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82296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1">
                <a:solidFill>
                  <a:srgbClr val="64748B"/>
                </a:solidFill>
                <a:latin typeface="Georgia"/>
              </a:rPr>
              <a:t>ENTERPRISE DATA ARCHITECTURE | TECHNOLOGY EVALUATION &amp; ARCHIVING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"/>
            <a:ext cx="8229600" cy="32918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Georgia"/>
              </a:rPr>
              <a:t>企业数据归档选型：海量合规首选 Databricks 湖仓，秒级高频检索协同 Doris 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>
                <a:solidFill>
                  <a:srgbClr val="0078D4"/>
                </a:solidFill>
                <a:latin typeface="Microsoft YaHei"/>
              </a:rPr>
              <a:t>基于冷热分层法则：Databricks 承载 90%+ 海量数据低成本安全封存；Doris 承接 10% 业务高频并发点查与交互式钻取。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822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52144"/>
            <a:ext cx="3108960" cy="3218688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bIns="73152" lIns="128016" rIns="128016"/>
          <a:lstStyle/>
          <a:p>
            <a:pPr algn="ctr"/>
            <a:r>
              <a:rPr sz="850" b="1">
                <a:solidFill>
                  <a:srgbClr val="EA3824"/>
                </a:solidFill>
                <a:latin typeface="Microsoft YaHei"/>
              </a:rPr>
              <a:t>【👑 主归档核心推荐 · 90%+ 海量数据】
</a:t>
            </a:r>
          </a:p>
          <a:p>
            <a:r>
              <a:rPr sz="1200" b="1">
                <a:solidFill>
                  <a:srgbClr val="0F172A"/>
                </a:solidFill>
                <a:latin typeface="Georgia"/>
              </a:rPr>
              <a:t>Azure Databricks Lakehouse
</a:t>
            </a:r>
            <a:r>
              <a:rPr sz="750">
                <a:solidFill>
                  <a:srgbClr val="64748B"/>
                </a:solidFill>
                <a:latin typeface="Microsoft YaHei"/>
              </a:rPr>
              <a:t>存算解耦 · 开放标准 · 法律合规底座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• 📦 极低持有成本 (TCO)：</a:t>
            </a:r>
            <a:r>
              <a:rPr sz="680">
                <a:solidFill>
                  <a:srgbClr val="334155"/>
                </a:solidFill>
                <a:latin typeface="Microsoft YaHei"/>
              </a:rPr>
              <a:t>基于 Delta/Parquet 开放格式，直接写入对象存储 Archive 冷层（~$0.001/GB/月），无查询时计算资源弹性缩容归零。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• 🛡️ 审计与法律合规 (WORM)：</a:t>
            </a:r>
            <a:r>
              <a:rPr sz="680">
                <a:solidFill>
                  <a:srgbClr val="334155"/>
                </a:solidFill>
                <a:latin typeface="Microsoft YaHei"/>
              </a:rPr>
              <a:t>原生满足监管不可篡改要求；时间旅行 (Time Travel) 精确重现历史审计时点状态；支持 GDPR 遗忘权精准清除。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• 🌐 跨系统统一治理：</a:t>
            </a:r>
            <a:r>
              <a:rPr sz="680">
                <a:solidFill>
                  <a:srgbClr val="334155"/>
                </a:solidFill>
                <a:latin typeface="Microsoft YaHei"/>
              </a:rPr>
              <a:t>Unity Catalog 提供贯穿全企业的表/行/列级权限管控、动态脱敏与端到端数据血缘，彻底杜绝数据孤岛与泄露。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• 🔄 架构解耦无绑定：</a:t>
            </a:r>
            <a:r>
              <a:rPr sz="680">
                <a:solidFill>
                  <a:srgbClr val="334155"/>
                </a:solidFill>
                <a:latin typeface="Microsoft YaHei"/>
              </a:rPr>
              <a:t>底层数据 100% 开放格式存储，避免被专有数据库文件格式绑架，随时可供 Spark, Presto 或外部引擎读取。</a:t>
            </a:r>
          </a:p>
          <a:p>
            <a:pPr>
              <a:spcBef>
                <a:spcPts val="600"/>
              </a:spcBef>
            </a:pPr>
            <a:r>
              <a:rPr sz="700" b="1">
                <a:solidFill>
                  <a:srgbClr val="10B981"/>
                </a:solidFill>
                <a:latin typeface="Microsoft YaHei"/>
              </a:rPr>
              <a:t>✓ 最佳场景: </a:t>
            </a:r>
            <a:r>
              <a:rPr sz="680">
                <a:solidFill>
                  <a:srgbClr val="334155"/>
                </a:solidFill>
                <a:latin typeface="Microsoft YaHei"/>
              </a:rPr>
              <a:t>退役系统全量历史归档、5~10年合规审计抽查、离线年报多维穿透分析。
</a:t>
            </a:r>
            <a:r>
              <a:rPr sz="700" b="1">
                <a:solidFill>
                  <a:srgbClr val="EF4444"/>
                </a:solidFill>
                <a:latin typeface="Microsoft YaHei"/>
              </a:rPr>
              <a:t>✕ 边界限制: </a:t>
            </a:r>
            <a:r>
              <a:rPr sz="680">
                <a:solidFill>
                  <a:srgbClr val="334155"/>
                </a:solidFill>
                <a:latin typeface="Microsoft YaHei"/>
              </a:rPr>
              <a:t>Serverless 冷启动时延在数秒级，不适合千人级前台高并发毫秒点查。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25296"/>
            <a:ext cx="2926079" cy="45720"/>
          </a:xfrm>
          <a:prstGeom prst="rect">
            <a:avLst/>
          </a:prstGeom>
          <a:solidFill>
            <a:srgbClr val="EA3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320" y="1152144"/>
            <a:ext cx="3108960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bIns="73152" lIns="128016" rIns="128016"/>
          <a:lstStyle/>
          <a:p>
            <a:pPr algn="ctr"/>
            <a:r>
              <a:rPr sz="850" b="1">
                <a:solidFill>
                  <a:srgbClr val="0284C7"/>
                </a:solidFill>
                <a:latin typeface="Microsoft YaHei"/>
              </a:rPr>
              <a:t>【⚡ 高频交互检索引擎 · 10% 温热数据】
</a:t>
            </a:r>
          </a:p>
          <a:p>
            <a:r>
              <a:rPr sz="1200" b="1">
                <a:solidFill>
                  <a:srgbClr val="0F172A"/>
                </a:solidFill>
                <a:latin typeface="Georgia"/>
              </a:rPr>
              <a:t>Apache Doris MPP Engine
</a:t>
            </a:r>
            <a:r>
              <a:rPr sz="750">
                <a:solidFill>
                  <a:srgbClr val="64748B"/>
                </a:solidFill>
                <a:latin typeface="Microsoft YaHei"/>
              </a:rPr>
              <a:t>极速响应 · 倒排索引 · 实时交互引擎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• ⚡ 毫秒级极速响应：</a:t>
            </a:r>
            <a:r>
              <a:rPr sz="680">
                <a:solidFill>
                  <a:srgbClr val="334155"/>
                </a:solidFill>
                <a:latin typeface="Microsoft YaHei"/>
              </a:rPr>
              <a:t>MPP 分布式计算 + 全向量化执行引擎，数亿行单表点查与多维聚合耗时 &lt; 500ms，轻松承载数千并发查询。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• 🔍 文本与倒排索引：</a:t>
            </a:r>
            <a:r>
              <a:rPr sz="680">
                <a:solidFill>
                  <a:srgbClr val="334155"/>
                </a:solidFill>
                <a:latin typeface="Microsoft YaHei"/>
              </a:rPr>
              <a:t>内置 Inverted Index，支持海量文本日志、合同流水号与物料编码跨字段快速模糊匹配检索。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• 🏢 业务前台实时反哺：</a:t>
            </a:r>
            <a:r>
              <a:rPr sz="680">
                <a:solidFill>
                  <a:srgbClr val="334155"/>
                </a:solidFill>
                <a:latin typeface="Microsoft YaHei"/>
              </a:rPr>
              <a:t>高度兼容 MySQL 协议，可直接对接前台 CRM/ERP 业务系统或开放 API，实现老数据准实时在线调阅。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• 📈 冷热分层存算分离：</a:t>
            </a:r>
            <a:r>
              <a:rPr sz="680">
                <a:solidFill>
                  <a:srgbClr val="334155"/>
                </a:solidFill>
                <a:latin typeface="Microsoft YaHei"/>
              </a:rPr>
              <a:t>支持将历史冷分区异步转储至 S3/对象存储，兼顾部分存储成本与本地 SSD 缓存加速。</a:t>
            </a:r>
          </a:p>
          <a:p>
            <a:pPr>
              <a:spcBef>
                <a:spcPts val="600"/>
              </a:spcBef>
            </a:pPr>
            <a:r>
              <a:rPr sz="700" b="1">
                <a:solidFill>
                  <a:srgbClr val="10B981"/>
                </a:solidFill>
                <a:latin typeface="Microsoft YaHei"/>
              </a:rPr>
              <a:t>✓ 最佳场景: </a:t>
            </a:r>
            <a:r>
              <a:rPr sz="680">
                <a:solidFill>
                  <a:srgbClr val="334155"/>
                </a:solidFill>
                <a:latin typeface="Microsoft YaHei"/>
              </a:rPr>
              <a:t>近 1~3 年高频订单检索、前台客户历史交易秒查、交互式大屏即席分析。
</a:t>
            </a:r>
            <a:r>
              <a:rPr sz="700" b="1">
                <a:solidFill>
                  <a:srgbClr val="EF4444"/>
                </a:solidFill>
                <a:latin typeface="Microsoft YaHei"/>
              </a:rPr>
              <a:t>✕ 边界限制: </a:t>
            </a:r>
            <a:r>
              <a:rPr sz="680">
                <a:solidFill>
                  <a:srgbClr val="334155"/>
                </a:solidFill>
                <a:latin typeface="Microsoft YaHei"/>
              </a:rPr>
              <a:t>需常驻 BE/FE 节点保障服务，PB 级长期纯冷封存硬件成本远高于对象存储。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59" y="1225296"/>
            <a:ext cx="2926079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0" y="1152144"/>
            <a:ext cx="1737360" cy="3218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950" b="1">
                <a:solidFill>
                  <a:srgbClr val="0078D4"/>
                </a:solidFill>
                <a:latin typeface="Georgia"/>
              </a:rPr>
              <a:t>选型评估矩阵 (Scorecard)
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【长期存储 TCO】
</a:t>
            </a:r>
            <a:r>
              <a:rPr sz="650">
                <a:solidFill>
                  <a:srgbClr val="334155"/>
                </a:solidFill>
                <a:latin typeface="Microsoft YaHei"/>
              </a:rPr>
              <a:t>Databricks: ● 极低
Doris: ▲ 中等 (节点开销)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【闲时算力成本】
</a:t>
            </a:r>
            <a:r>
              <a:rPr sz="650">
                <a:solidFill>
                  <a:srgbClr val="334155"/>
                </a:solidFill>
                <a:latin typeface="Microsoft YaHei"/>
              </a:rPr>
              <a:t>Databricks: ● 弹性归零
Doris: ▲ 常驻集群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【毫秒级并发点查】
</a:t>
            </a:r>
            <a:r>
              <a:rPr sz="650">
                <a:solidFill>
                  <a:srgbClr val="334155"/>
                </a:solidFill>
                <a:latin typeface="Microsoft YaHei"/>
              </a:rPr>
              <a:t>Databricks: ▲ 秒级响应
Doris: ● &lt;500ms 极速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F172A"/>
                </a:solidFill>
                <a:latin typeface="Microsoft YaHei"/>
              </a:rPr>
              <a:t>【全域血缘与治理】
</a:t>
            </a:r>
            <a:r>
              <a:rPr sz="650">
                <a:solidFill>
                  <a:srgbClr val="334155"/>
                </a:solidFill>
                <a:latin typeface="Microsoft YaHei"/>
              </a:rPr>
              <a:t>Databricks: ● 原生 UC
Doris: ○ 需外挂系统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78D4"/>
                </a:solidFill>
                <a:latin typeface="Georgia"/>
              </a:rPr>
              <a:t>📉 -75%
</a:t>
            </a:r>
            <a:r>
              <a:rPr sz="700" b="1">
                <a:solidFill>
                  <a:srgbClr val="0F172A"/>
                </a:solidFill>
                <a:latin typeface="Microsoft YaHei"/>
              </a:rPr>
              <a:t>10年期归档综合 TCO 节省
</a:t>
            </a:r>
            <a:r>
              <a:rPr sz="620">
                <a:solidFill>
                  <a:srgbClr val="64748B"/>
                </a:solidFill>
                <a:latin typeface="Microsoft YaHei"/>
              </a:rPr>
              <a:t>存算分离 + 开放 Delta 格式，杜绝专有数仓常驻节点浪费。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62272"/>
            <a:ext cx="8229600" cy="384048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28016" rIns="128016"/>
          <a:lstStyle/>
          <a:p>
            <a:pPr algn="ctr"/>
            <a:r>
              <a:rPr sz="850" b="1">
                <a:solidFill>
                  <a:srgbClr val="0078D4"/>
                </a:solidFill>
                <a:latin typeface="Microsoft YaHei"/>
              </a:rPr>
              <a:t>【麦肯锡咨询建议：双擎冷热分层协同】 </a:t>
            </a:r>
            <a:r>
              <a:rPr sz="750">
                <a:solidFill>
                  <a:srgbClr val="0F172A"/>
                </a:solidFill>
                <a:latin typeface="Microsoft YaHei"/>
              </a:rPr>
              <a:t>以 Databricks Lakehouse 作为企业 90%+ 历史数据的单一事实源（SSOT）低成本安全封存，满足 5~10 年法律审计合规；针对近 1~3 年高频业务调阅，按需加载温热索引与主题明细至 Doris，兼顾极低 TCO 与亚秒级极速交互。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