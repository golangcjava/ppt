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46304" cy="2560320"/>
          </a:xfrm>
          <a:prstGeom prst="rect">
            <a:avLst/>
          </a:prstGeom>
          <a:solidFill>
            <a:srgbClr val="009C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7818119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100" b="1">
                <a:solidFill>
                  <a:srgbClr val="009CDE"/>
                </a:solidFill>
                <a:latin typeface="Georgia"/>
              </a:rPr>
              <a:t>ENTERPRISE CLOUD DATA ARCHITECTURE ADVISORY
</a:t>
            </a:r>
          </a:p>
          <a:p>
            <a:pPr>
              <a:spcBef>
                <a:spcPts val="800"/>
              </a:spcBef>
            </a:pPr>
            <a:r>
              <a:rPr sz="2600" b="1">
                <a:solidFill>
                  <a:srgbClr val="FFFFFF"/>
                </a:solidFill>
                <a:latin typeface="Georgia"/>
              </a:rPr>
              <a:t>Azure Modern Data Platform Architecture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EAF4FB"/>
                </a:solidFill>
                <a:latin typeface="Microsoft YaHei"/>
              </a:rPr>
              <a:t>基于 Azure Databricks · ADF · Synapse 的端到端协同技术架构与选型方案建议书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78181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Microsoft YaHei"/>
              </a:rPr>
              <a:t>Cloud Architecture &amp; Data Practice  |  September 2026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138159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 b="0">
                <a:solidFill>
                  <a:srgbClr val="64748B"/>
                </a:solidFill>
                <a:latin typeface="Georgia"/>
              </a:rPr>
              <a:t>AZURE DATA PLATFORM STRATEGY | CORE ROLES &amp; POSITIONING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8138159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Georgia"/>
              </a:rPr>
              <a:t>战略定位：ADF、Databricks 与 Synapse 各司其职，构建现代湖仓一体分工体系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8138159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50" b="0">
                <a:solidFill>
                  <a:srgbClr val="005A9C"/>
                </a:solidFill>
                <a:latin typeface="Microsoft YaHei"/>
              </a:rPr>
              <a:t>明确三者在企业数据价值链中的专业分工，打破选型困惑：ADF管调度接入、Databricks管湖仓计算、Synapse管数仓与报表。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81381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2590799" cy="2706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 lIns="128016" rIns="128016"/>
          <a:lstStyle/>
          <a:p>
            <a:pPr algn="ctr"/>
            <a:r>
              <a:rPr sz="1000" b="1">
                <a:solidFill>
                  <a:srgbClr val="005A9C"/>
                </a:solidFill>
                <a:latin typeface="Georgia"/>
              </a:rPr>
              <a:t>[01]  </a:t>
            </a:r>
            <a:r>
              <a:rPr sz="1100" b="1">
                <a:solidFill>
                  <a:srgbClr val="0F172A"/>
                </a:solidFill>
                <a:latin typeface="Georgia"/>
              </a:rPr>
              <a:t>Azure Data Factory (ADF)</a:t>
            </a:r>
          </a:p>
          <a:p>
            <a:pPr>
              <a:spcBef>
                <a:spcPts val="300"/>
              </a:spcBef>
              <a:spcAft>
                <a:spcPts val="800"/>
              </a:spcAft>
            </a:pPr>
            <a:r>
              <a:rPr sz="850" b="1">
                <a:solidFill>
                  <a:srgbClr val="64748B"/>
                </a:solidFill>
                <a:latin typeface="Microsoft YaHei"/>
              </a:rPr>
              <a:t>全域数据集成与调度编排中枢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多源连接生态：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内置 100+ 原生成熟连接器，覆盖数据库、多云与 SaaS 应用。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Serverless 弹性调度：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基于事件触发、定时轮询与参数化依赖编排，无基础设施开销。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安全混合网络：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自托管运行时 (SHIR) 打通内网与专线，全链路私有端点通信。</a:t>
            </a:r>
          </a:p>
          <a:p>
            <a:pPr>
              <a:spcBef>
                <a:spcPts val="800"/>
              </a:spcBef>
            </a:pPr>
            <a:r>
              <a:rPr sz="700" b="1">
                <a:solidFill>
                  <a:srgbClr val="10B981"/>
                </a:solidFill>
                <a:latin typeface="Microsoft YaHei"/>
              </a:rPr>
              <a:t>✓ 适用场景: </a:t>
            </a:r>
            <a:r>
              <a:rPr sz="700">
                <a:solidFill>
                  <a:srgbClr val="334155"/>
                </a:solidFill>
                <a:latin typeface="Microsoft YaHei"/>
              </a:rPr>
              <a:t>跨网络数据抽取、轻量文件落湖、作业依赖触发与全域调度。
</a:t>
            </a:r>
            <a:r>
              <a:rPr sz="700" b="1">
                <a:solidFill>
                  <a:srgbClr val="EF4444"/>
                </a:solidFill>
                <a:latin typeface="Microsoft YaHei"/>
              </a:rPr>
              <a:t>✕ 边界限制: </a:t>
            </a:r>
            <a:r>
              <a:rPr sz="700">
                <a:solidFill>
                  <a:srgbClr val="334155"/>
                </a:solidFill>
                <a:latin typeface="Microsoft YaHei"/>
              </a:rPr>
              <a:t>极复杂大数据清洗、非结构化计算与高并发即席查询。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76599" y="1207008"/>
            <a:ext cx="2590799" cy="2706624"/>
          </a:xfrm>
          <a:prstGeom prst="roundRect">
            <a:avLst/>
          </a:prstGeom>
          <a:solidFill>
            <a:srgbClr val="EAF4FB"/>
          </a:solidFill>
          <a:ln w="1905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 lIns="128016" rIns="128016"/>
          <a:lstStyle/>
          <a:p>
            <a:pPr algn="ctr"/>
            <a:r>
              <a:rPr sz="1000" b="1">
                <a:solidFill>
                  <a:srgbClr val="005A9C"/>
                </a:solidFill>
                <a:latin typeface="Georgia"/>
              </a:rPr>
              <a:t>[02]  </a:t>
            </a:r>
            <a:r>
              <a:rPr sz="1100" b="1">
                <a:solidFill>
                  <a:srgbClr val="0F172A"/>
                </a:solidFill>
                <a:latin typeface="Georgia"/>
              </a:rPr>
              <a:t>Azure Databricks</a:t>
            </a:r>
          </a:p>
          <a:p>
            <a:pPr>
              <a:spcBef>
                <a:spcPts val="300"/>
              </a:spcBef>
              <a:spcAft>
                <a:spcPts val="800"/>
              </a:spcAft>
            </a:pPr>
            <a:r>
              <a:rPr sz="850" b="1">
                <a:solidFill>
                  <a:srgbClr val="005A9C"/>
                </a:solidFill>
                <a:latin typeface="Microsoft YaHei"/>
              </a:rPr>
              <a:t>现代化湖仓一体与智能计算核心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Medallion 奖章架构：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驱动 Bronze 原始 -&gt; Silver 清洗 -&gt; Gold 业务宽表的逐层精炼。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极致大数据性能：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Photon 向量化执行引擎 + Delta Lake ACID 事务与时间旅行。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统一数据与 AI 治理：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Unity Catalog 提供表/行/列细粒度权限，原生集成 MLflow。</a:t>
            </a:r>
          </a:p>
          <a:p>
            <a:pPr>
              <a:spcBef>
                <a:spcPts val="800"/>
              </a:spcBef>
            </a:pPr>
            <a:r>
              <a:rPr sz="700" b="1">
                <a:solidFill>
                  <a:srgbClr val="10B981"/>
                </a:solidFill>
                <a:latin typeface="Microsoft YaHei"/>
              </a:rPr>
              <a:t>✓ 适用场景: </a:t>
            </a:r>
            <a:r>
              <a:rPr sz="700">
                <a:solidFill>
                  <a:srgbClr val="334155"/>
                </a:solidFill>
                <a:latin typeface="Microsoft YaHei"/>
              </a:rPr>
              <a:t>流批一体计算、TB/PB 级复杂转换、特征工程与企业私域 AI 模型。
</a:t>
            </a:r>
            <a:r>
              <a:rPr sz="700" b="1">
                <a:solidFill>
                  <a:srgbClr val="EF4444"/>
                </a:solidFill>
                <a:latin typeface="Microsoft YaHei"/>
              </a:rPr>
              <a:t>✕ 边界限制: </a:t>
            </a:r>
            <a:r>
              <a:rPr sz="700">
                <a:solidFill>
                  <a:srgbClr val="334155"/>
                </a:solidFill>
                <a:latin typeface="Microsoft YaHei"/>
              </a:rPr>
              <a:t>简单的点对点文件搬运与数千并发分析师同时在线交互点选。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50279" y="1207008"/>
            <a:ext cx="2590799" cy="2706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91440" lIns="128016" rIns="128016"/>
          <a:lstStyle/>
          <a:p>
            <a:pPr algn="ctr"/>
            <a:r>
              <a:rPr sz="1000" b="1">
                <a:solidFill>
                  <a:srgbClr val="005A9C"/>
                </a:solidFill>
                <a:latin typeface="Georgia"/>
              </a:rPr>
              <a:t>[03]  </a:t>
            </a:r>
            <a:r>
              <a:rPr sz="1100" b="1">
                <a:solidFill>
                  <a:srgbClr val="0F172A"/>
                </a:solidFill>
                <a:latin typeface="Georgia"/>
              </a:rPr>
              <a:t>Azure Synapse Analytics</a:t>
            </a:r>
          </a:p>
          <a:p>
            <a:pPr>
              <a:spcBef>
                <a:spcPts val="300"/>
              </a:spcBef>
              <a:spcAft>
                <a:spcPts val="800"/>
              </a:spcAft>
            </a:pPr>
            <a:r>
              <a:rPr sz="850" b="1">
                <a:solidFill>
                  <a:srgbClr val="64748B"/>
                </a:solidFill>
                <a:latin typeface="Microsoft YaHei"/>
              </a:rPr>
              <a:t>企业级数仓与高性能 BI 报表服务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专用 SQL 池 (Dedicated)：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MPP 分布式高并发架构，承载核心企业数仓与星型模型。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无服务器 SQL (Serverless)：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针对湖内文件直接执行原生 T-SQL 探索，按查询量计费。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50" b="1">
                <a:solidFill>
                  <a:srgbClr val="0F172A"/>
                </a:solidFill>
                <a:latin typeface="Microsoft YaHei"/>
              </a:rPr>
              <a:t>• 无缝 BI 体验：</a:t>
            </a:r>
            <a:r>
              <a:rPr sz="750" b="0">
                <a:solidFill>
                  <a:srgbClr val="334155"/>
                </a:solidFill>
                <a:latin typeface="Microsoft YaHei"/>
              </a:rPr>
              <a:t>与 Power BI 深度集成，物化视图与 DirectLake 支撑秒级展现。</a:t>
            </a:r>
          </a:p>
          <a:p>
            <a:pPr>
              <a:spcBef>
                <a:spcPts val="800"/>
              </a:spcBef>
            </a:pPr>
            <a:r>
              <a:rPr sz="700" b="1">
                <a:solidFill>
                  <a:srgbClr val="10B981"/>
                </a:solidFill>
                <a:latin typeface="Microsoft YaHei"/>
              </a:rPr>
              <a:t>✓ 适用场景: </a:t>
            </a:r>
            <a:r>
              <a:rPr sz="700">
                <a:solidFill>
                  <a:srgbClr val="334155"/>
                </a:solidFill>
                <a:latin typeface="Microsoft YaHei"/>
              </a:rPr>
              <a:t>高并发管理仪表盘、复杂维度建模、企业财务级口径治理。
</a:t>
            </a:r>
            <a:r>
              <a:rPr sz="700" b="1">
                <a:solidFill>
                  <a:srgbClr val="EF4444"/>
                </a:solidFill>
                <a:latin typeface="Microsoft YaHei"/>
              </a:rPr>
              <a:t>✕ 边界限制: </a:t>
            </a:r>
            <a:r>
              <a:rPr sz="700">
                <a:solidFill>
                  <a:srgbClr val="334155"/>
                </a:solidFill>
                <a:latin typeface="Microsoft YaHei"/>
              </a:rPr>
              <a:t>底层非结构化音视频处理与前沿深度学习模型分布式训练。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62272"/>
            <a:ext cx="8138159" cy="384048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 lIns="137160" rIns="137160"/>
          <a:lstStyle/>
          <a:p>
            <a:pPr algn="ctr"/>
            <a:r>
              <a:rPr sz="850" b="1">
                <a:solidFill>
                  <a:srgbClr val="005A9C"/>
                </a:solidFill>
                <a:latin typeface="Microsoft YaHei"/>
              </a:rPr>
              <a:t>【架构协同原则】 </a:t>
            </a:r>
            <a:r>
              <a:rPr sz="850" b="0">
                <a:solidFill>
                  <a:srgbClr val="0F172A"/>
                </a:solidFill>
                <a:latin typeface="Microsoft YaHei"/>
              </a:rPr>
              <a:t>绝非三选一的替代关系：以 ADF 为全域数据管道纽带，以 Databricks 为中枢加工单一事实源 (SSOT)，以 Synapse 为窗口保障企业级报表毫秒级响应。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138159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 b="0">
                <a:solidFill>
                  <a:srgbClr val="64748B"/>
                </a:solidFill>
                <a:latin typeface="Georgia"/>
              </a:rPr>
              <a:t>AZURE DATA PLATFORM ARCHITECTURE | TECHNICAL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8138159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Georgia"/>
              </a:rPr>
              <a:t>技术架构全景图：基于 Medallion 奖章体系的 Azure 四层现代化数据架构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8138159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50" b="0">
                <a:solidFill>
                  <a:srgbClr val="005A9C"/>
                </a:solidFill>
                <a:latin typeface="Microsoft YaHei"/>
              </a:rPr>
              <a:t>分层解耦：多源接入、湖仓精炼、企业数仓建模与全场景消费深度协同，贯穿端到端安全与治理基线。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81381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1188720" cy="58521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36576" lIns="73152" rIns="54864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01 消费洞察层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CONSUMPTION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01368" y="1207008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Power BI 敏捷可视化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直连 Synapse 与 Databricks SQL，秒级多维钻取分析与自助看板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9584" y="1207008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企业级报表与仪表盘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合规财务报表、运营日报与管理驾驶舱，支持定时分发与导出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57800" y="1207008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AI 与大模型应用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基于 Azure OpenAI 知识库语义问答与 MLflow 模型在线推理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86015" y="1207008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开放 API 与逆向 ETL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API Management 统一封装标准数据微服务，反哺业务系统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01368" y="1792224"/>
            <a:ext cx="6839711" cy="109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50">
                <a:solidFill>
                  <a:srgbClr val="64748B"/>
                </a:solidFill>
                <a:latin typeface="Consolas"/>
              </a:rPr>
              <a:t>↕  HTTPS 443 · DirectLake / DirectQuery · REST APIs · OData  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01952"/>
            <a:ext cx="1188720" cy="58521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36576" lIns="73152" rIns="54864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02 建模服务层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SERVING &amp; EDW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01368" y="1901952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Synapse 专用 SQL 池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MPP 分布式企业数仓，承载星型模型 (Fact/Dim)，毫秒高并发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9584" y="1901952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Synapse Serverless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针对数据湖开放文件直接执行原生 T-SQL，零驻留成本即席探索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1901952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Databricks SQL 仓库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Serverless SQL Warehouse，提供高性价比湖仓交互式查询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86015" y="1901952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统一指标管理中枢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统一维护全局商业指标口径与语义层，消除跨部门数据歧义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2487168"/>
            <a:ext cx="6839711" cy="109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50">
                <a:solidFill>
                  <a:srgbClr val="64748B"/>
                </a:solidFill>
                <a:latin typeface="Consolas"/>
              </a:rPr>
              <a:t>↕  Synapse Link · JDBC / ODBC · T-SQL · Delta Sharing 联邦访问  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596896"/>
            <a:ext cx="1188720" cy="585216"/>
          </a:xfrm>
          <a:prstGeom prst="roundRect">
            <a:avLst/>
          </a:prstGeom>
          <a:solidFill>
            <a:srgbClr val="EAF4FB"/>
          </a:solidFill>
          <a:ln w="1905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36576" lIns="73152" rIns="54864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03 湖仓计算层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LAKEHOUSE ENGINE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01368" y="2596896"/>
            <a:ext cx="1655063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FC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Bronze 原始湖 (Raw)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保留源端 1:1 原始快照与增量日志，Auto Loader 毫秒入湖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9584" y="2596896"/>
            <a:ext cx="1655063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FC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Silver 洁净层 (Refined)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执行清洗、去重、类型推断、Schema 校验与实体关联 (Delta 表)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7800" y="2596896"/>
            <a:ext cx="1655063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FC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Gold 业务层 (Curated)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高度精炼的主题汇总宽表、业务指标预计算与特征库，ACID 保障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86015" y="2596896"/>
            <a:ext cx="1655063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FCD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Unity Catalog 统一治理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跨工作区统一数据目录，支持表/行/列级授权与端到端血缘追踪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1368" y="3182112"/>
            <a:ext cx="6839711" cy="10972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 algn="ctr"/>
            <a:r>
              <a:rPr sz="650">
                <a:solidFill>
                  <a:srgbClr val="64748B"/>
                </a:solidFill>
                <a:latin typeface="Consolas"/>
              </a:rPr>
              <a:t>↕  ABFS (ADLS Gen2) · Delta Lake 开放格式 · Apache Spark 3.x · Auto Loader  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291840"/>
            <a:ext cx="1188720" cy="58521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36576" lIns="73152" rIns="54864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04 接入基建层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INGESTION &amp; INFRA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01368" y="3291840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Azure Data Factory (ADF)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全域统一调度编排流水线，支持 100+ 连接器与断点续传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9584" y="3291840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Event Hubs 实时流接入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高吞吐接入 IoT 设备埋点、应用日志与 Kafka 实时数据流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291840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ADLS Gen2 湖存储底座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高性价比分层存储 (Hot/Cool/Archive)，多协议兼容与加密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86015" y="3291840"/>
            <a:ext cx="1655063" cy="58521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bIns="36576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多源异构业务系统</a:t>
            </a:r>
          </a:p>
          <a:p>
            <a:pPr>
              <a:spcBef>
                <a:spcPts val="150"/>
              </a:spcBef>
            </a:pPr>
            <a:r>
              <a:rPr sz="650">
                <a:solidFill>
                  <a:srgbClr val="334155"/>
                </a:solidFill>
                <a:latin typeface="Microsoft YaHei"/>
              </a:rPr>
              <a:t>SAP ERP、本地核心数据库、SaaS CRM、无结构音视频附件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913632"/>
            <a:ext cx="8138159" cy="219456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/>
            <a:r>
              <a:rPr sz="700" b="1">
                <a:solidFill>
                  <a:srgbClr val="005A9C"/>
                </a:solidFill>
                <a:latin typeface="Microsoft YaHei"/>
              </a:rPr>
              <a:t>🛡️ 统一治理与安全底座：Microsoft Purview 数据编织 · Azure Key Vault 统一密钥 · Entra ID 单点鉴权 · 全私有端点 (Private Link)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62272"/>
            <a:ext cx="8138159" cy="384048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 lIns="137160" rIns="137160"/>
          <a:lstStyle/>
          <a:p>
            <a:pPr algn="ctr"/>
            <a:r>
              <a:rPr sz="850" b="1">
                <a:solidFill>
                  <a:srgbClr val="005A9C"/>
                </a:solidFill>
                <a:latin typeface="Microsoft YaHei"/>
              </a:rPr>
              <a:t>【核心设计原则】 </a:t>
            </a:r>
            <a:r>
              <a:rPr sz="850" b="0">
                <a:solidFill>
                  <a:srgbClr val="0F172A"/>
                </a:solidFill>
                <a:latin typeface="Microsoft YaHei"/>
              </a:rPr>
              <a:t>存算分离、计算弹性归零、单一事实源 (Single Copy of Truth)、全链路私网互联与企业级零信任访问。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138159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 b="0">
                <a:solidFill>
                  <a:srgbClr val="64748B"/>
                </a:solidFill>
                <a:latin typeface="Georgia"/>
              </a:rPr>
              <a:t>AZURE DATA PLATFORM STRATEGY | TECHNOLOGY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8138159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Georgia"/>
              </a:rPr>
              <a:t>场景深度选型：在数据接入、复杂转换、湖仓治理与 BI 报表场景下的边界权衡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8138159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50" b="0">
                <a:solidFill>
                  <a:srgbClr val="005A9C"/>
                </a:solidFill>
                <a:latin typeface="Microsoft YaHei"/>
              </a:rPr>
              <a:t>结合实际企业生产痛点，对 ADF、Databricks 与 Synapse 在五大核心技术场景进行系统权衡与评级。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81381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057400" y="1207008"/>
            <a:ext cx="2148839" cy="25603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/>
          <a:lstStyle/>
          <a:p>
            <a:pPr algn="ctr"/>
            <a:r>
              <a:rPr sz="800" b="1">
                <a:solidFill>
                  <a:srgbClr val="0F172A"/>
                </a:solidFill>
                <a:latin typeface="Microsoft YaHei"/>
              </a:rPr>
              <a:t>Azure Data Factory (全域调度编排中枢)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207008"/>
            <a:ext cx="2148839" cy="256032"/>
          </a:xfrm>
          <a:prstGeom prst="roundRect">
            <a:avLst/>
          </a:prstGeom>
          <a:solidFill>
            <a:srgbClr val="009CDE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★ 核心推荐: Azure Databricks (现代湖仓与计算核心)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19" y="1207008"/>
            <a:ext cx="2148839" cy="25603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/>
          <a:lstStyle/>
          <a:p>
            <a:pPr algn="ctr"/>
            <a:r>
              <a:rPr sz="800" b="1">
                <a:solidFill>
                  <a:srgbClr val="0F172A"/>
                </a:solidFill>
                <a:latin typeface="Microsoft YaHei"/>
              </a:rPr>
              <a:t>Azure Synapse (企业数仓与报表服务)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99616"/>
            <a:ext cx="1508760" cy="41696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01 异构多源集成与编排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连接器生态、定时轮询与事件依赖编排能力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1499616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顶级编排中枢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内置 100+ 原生连接器，支持图形化与 SHIR 穿透内网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499616"/>
            <a:ext cx="2148839" cy="41696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轻量作业编排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Workflows 支持轻量调度，但外部异构连接需自写代码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19" y="1499616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继承 ADF 能力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内置 Synapse Pipelines 具备与 ADF 一致的集成调度能力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953158"/>
            <a:ext cx="1508760" cy="41696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02 大数据清洗与转换 (ETL)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TB/PB 级吞吐、复杂业务逻辑、半/非结构化处理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57400" y="1953158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轻量搬运为主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Mapping Data Flow 成本高，更适合作为 ELT 搬运工具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953158"/>
            <a:ext cx="2148839" cy="41696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公认性能霸主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Photon 向量化执行提效 3-5x，PySpark 表达复杂业务逻辑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19" y="1953158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适合 T-SQL 转换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适合库内 SQL 存储过程，对非结构化与前沿算法支持受限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406700"/>
            <a:ext cx="1508760" cy="41696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03 湖仓一体与流批统一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ACID 事务、时间旅行回溯、流批一体化支持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57400" y="2406700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EF4444"/>
                </a:solidFill>
                <a:latin typeface="Microsoft YaHei"/>
              </a:rPr>
              <a:t>○  无存储处理能力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仅作为数据搬运管道，不参与底层文件格式优化与治理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1959" y="2406700"/>
            <a:ext cx="2148839" cy="41696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Delta 原创引领者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原生支持 Delta Lake / Iceberg，Auto Loader 毫秒入湖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19" y="2406700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支持部分 Delta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Serverless SQL 支持读取 Delta，但深度优化依赖外部作业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60243"/>
            <a:ext cx="1508760" cy="41696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04 高并发即席查询与 EDW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千人并发点选、星型维度建模、亚秒级报表聚合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57400" y="2860243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EF4444"/>
                </a:solidFill>
                <a:latin typeface="Microsoft YaHei"/>
              </a:rPr>
              <a:t>○  不提供查询服务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不具备 SQL 查询引擎，仅输出文件至下游目标库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59" y="2860243"/>
            <a:ext cx="2148839" cy="41696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并发能力持续提升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Databricks SQL 极佳，但超大规模高并发报表开销相对较高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19" y="2860243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企业数仓绝对主力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专用 SQL 池 MPP 架构抗压强，物化视图与结果集缓存完善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313785"/>
            <a:ext cx="1508760" cy="41696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005A9C"/>
                </a:solidFill>
                <a:latin typeface="Georgia"/>
              </a:rPr>
              <a:t>05 AI / 机器学习与高级分析
</a:t>
            </a:r>
          </a:p>
          <a:p>
            <a:r>
              <a:rPr sz="650">
                <a:solidFill>
                  <a:srgbClr val="64748B"/>
                </a:solidFill>
                <a:latin typeface="Microsoft YaHei"/>
              </a:rPr>
              <a:t>算法模型训练、特征工程、端到端 MLOps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57400" y="3313785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EF4444"/>
                </a:solidFill>
                <a:latin typeface="Microsoft YaHei"/>
              </a:rPr>
              <a:t>○  不支持算法建模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无算法运行环境，仅为算法训练搬运样本文件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59" y="3313785"/>
            <a:ext cx="2148839" cy="416966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10B981"/>
                </a:solidFill>
                <a:latin typeface="Microsoft YaHei"/>
              </a:rPr>
              <a:t>●  一站式数据智能底座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原生集成 MLflow 模型注册与部署，内置 GPU 分布式算力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19" y="3313785"/>
            <a:ext cx="2148839" cy="41696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 lIns="54864" rIns="54864"/>
          <a:lstStyle/>
          <a:p>
            <a:pPr algn="ctr"/>
            <a:r>
              <a:rPr sz="750" b="1">
                <a:solidFill>
                  <a:srgbClr val="F59E0B"/>
                </a:solidFill>
                <a:latin typeface="Microsoft YaHei"/>
              </a:rPr>
              <a:t>▲  集成 Azure ML
</a:t>
            </a:r>
          </a:p>
          <a:p>
            <a:r>
              <a:rPr sz="650">
                <a:solidFill>
                  <a:srgbClr val="334155"/>
                </a:solidFill>
                <a:latin typeface="Microsoft YaHei"/>
              </a:rPr>
              <a:t>具备轻量预测函数，但前沿深度学习生态成熟度不如 Databricks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803904"/>
            <a:ext cx="4882895" cy="457200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800" b="1">
                <a:solidFill>
                  <a:srgbClr val="005A9C"/>
                </a:solidFill>
                <a:latin typeface="Microsoft YaHei"/>
              </a:rPr>
              <a:t>★ 协同推荐结论：三位一体协同现代化架构
</a:t>
            </a:r>
            <a:r>
              <a:rPr sz="700">
                <a:solidFill>
                  <a:srgbClr val="0F172A"/>
                </a:solidFill>
                <a:latin typeface="Microsoft YaHei"/>
              </a:rPr>
              <a:t>ADF 负责全域调度与源端抽取，Databricks 负责湖仓 Medallion 流批处理与 AI，Synapse 承载企业数仓建模与报表。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95543" y="3803904"/>
            <a:ext cx="3145535" cy="45720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800" b="1">
                <a:solidFill>
                  <a:srgbClr val="0F172A"/>
                </a:solidFill>
                <a:latin typeface="Microsoft YaHei"/>
              </a:rPr>
              <a:t>⚖ 关键取舍 (Trade-off)
</a:t>
            </a:r>
            <a:r>
              <a:rPr sz="700">
                <a:solidFill>
                  <a:srgbClr val="334155"/>
                </a:solidFill>
                <a:latin typeface="Microsoft YaHei"/>
              </a:rPr>
              <a:t>三者结合需配置统一元数据治理 (Purview) 与网络私有端点，但换取了极佳的性能与长远可演进性。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138159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 b="0">
                <a:solidFill>
                  <a:srgbClr val="64748B"/>
                </a:solidFill>
                <a:latin typeface="Georgia"/>
              </a:rPr>
              <a:t>AZURE DATA PLATFORM IMPLEMENTATION | DATA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8138159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Georgia"/>
              </a:rPr>
              <a:t>数据流转闭环：从源端抽取到商业洞察的端到端 4 阶段落地工作流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8138159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50" b="0">
                <a:solidFill>
                  <a:srgbClr val="005A9C"/>
                </a:solidFill>
                <a:latin typeface="Microsoft YaHei"/>
              </a:rPr>
              <a:t>清晰界定 ADF 调度触发、Databricks 增量精炼与 Synapse 视图建模的职责交接面与流转机制。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81381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1931669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STAGE 01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多源统一抽取与落地
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650">
                <a:solidFill>
                  <a:srgbClr val="64748B"/>
                </a:solidFill>
                <a:latin typeface="Consolas"/>
              </a:rPr>
              <a:t>ADF · Event Hubs · Landing Zone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ADF 定时轮询源端增量数据 (Watermark)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落入 ADLS Gen2 Landing/Raw 分区目录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写入抽取审计流水，核对行数与校验和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1750" y="1207008"/>
            <a:ext cx="1931669" cy="1691640"/>
          </a:xfrm>
          <a:prstGeom prst="roundRect">
            <a:avLst/>
          </a:prstGeom>
          <a:solidFill>
            <a:srgbClr val="EAF4FB"/>
          </a:solidFill>
          <a:ln w="1905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STAGE 02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湖仓自动化精炼清洗
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650">
                <a:solidFill>
                  <a:srgbClr val="005A9C"/>
                </a:solidFill>
                <a:latin typeface="Consolas"/>
              </a:rPr>
              <a:t>Databricks · Auto Loader · Delta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Auto Loader 事件感应新文件即时入湖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写入 Bronze -&gt; Silver 执行清洗、去重与类型约束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Great Expectations 质检规则拦截异常脏数据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0579" y="1207008"/>
            <a:ext cx="1931669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STAGE 03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业务聚合建模与特征
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650">
                <a:solidFill>
                  <a:srgbClr val="64748B"/>
                </a:solidFill>
                <a:latin typeface="Consolas"/>
              </a:rPr>
              <a:t>Databricks · Gold Delta · Features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跨系统关联组装客户、订单、产品等主题宽表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统一口径预计算核心 KPI 指标库与特征库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Unity Catalog 登记元数据并对外发布共享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09409" y="1207008"/>
            <a:ext cx="1931669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STAGE 04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数仓加速与商业呈现
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650">
                <a:solidFill>
                  <a:srgbClr val="64748B"/>
                </a:solidFill>
                <a:latin typeface="Consolas"/>
              </a:rPr>
              <a:t>Synapse Dedicated · Power BI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PolyBase / Synapse Link 高速加载专用池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Power BI DirectLake 毫秒级直连直读湖仓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物化视图加速保障数千业务用户并发无卡顿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35808"/>
            <a:ext cx="2590799" cy="1188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/>
          <a:lstStyle/>
          <a:p>
            <a:pPr algn="ctr"/>
            <a:r>
              <a:rPr sz="2000" b="1">
                <a:solidFill>
                  <a:srgbClr val="009CDE"/>
                </a:solidFill>
                <a:latin typeface="Georgia"/>
              </a:rPr>
              <a:t>15 分钟
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0F172A"/>
                </a:solidFill>
                <a:latin typeface="Georgia"/>
              </a:rPr>
              <a:t>数据端到端入库就绪时延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从传统 T+1 日级批处理跨越至分钟级增量可用，全面支撑实时运营决策。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76599" y="3035808"/>
            <a:ext cx="2590799" cy="1188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/>
          <a:lstStyle/>
          <a:p>
            <a:pPr algn="ctr"/>
            <a:r>
              <a:rPr sz="2000" b="1">
                <a:solidFill>
                  <a:srgbClr val="009CDE"/>
                </a:solidFill>
                <a:latin typeface="Georgia"/>
              </a:rPr>
              <a:t>35%
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0F172A"/>
                </a:solidFill>
                <a:latin typeface="Georgia"/>
              </a:rPr>
              <a:t>云端计算与存储 TCO 降低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存算分离架构 + Serverless 弹性缩容归零，杜绝常驻空转算力开销。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50279" y="3035808"/>
            <a:ext cx="2590799" cy="118872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/>
          <a:lstStyle/>
          <a:p>
            <a:pPr algn="ctr"/>
            <a:r>
              <a:rPr sz="2000" b="1">
                <a:solidFill>
                  <a:srgbClr val="009CDE"/>
                </a:solidFill>
                <a:latin typeface="Georgia"/>
              </a:rPr>
              <a:t>70%
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0F172A"/>
                </a:solidFill>
                <a:latin typeface="Georgia"/>
              </a:rPr>
              <a:t>手工运维排错工单压缩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端到端自动化管道 + 统一元数据治理 (Purview)，大幅减少数据对账工作量。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62272"/>
            <a:ext cx="8138159" cy="384048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 lIns="137160" rIns="137160"/>
          <a:lstStyle/>
          <a:p>
            <a:pPr algn="ctr"/>
            <a:r>
              <a:rPr sz="850" b="1">
                <a:solidFill>
                  <a:srgbClr val="005A9C"/>
                </a:solidFill>
                <a:latin typeface="Microsoft YaHei"/>
              </a:rPr>
              <a:t>【流程收益结论】 </a:t>
            </a:r>
            <a:r>
              <a:rPr sz="850" b="0">
                <a:solidFill>
                  <a:srgbClr val="0F172A"/>
                </a:solidFill>
                <a:latin typeface="Microsoft YaHei"/>
              </a:rPr>
              <a:t>以流批一体闭环代替散落手工脚本，打通从源端感知到业务报表毫秒呈现的全流程，兼备敏捷度、高可靠性与合规性。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138159" cy="1645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750" b="0">
                <a:solidFill>
                  <a:srgbClr val="64748B"/>
                </a:solidFill>
                <a:latin typeface="Georgia"/>
              </a:rPr>
              <a:t>AZURE DATA PLATFORM IMPLEMENTATION | 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48056"/>
            <a:ext cx="8138159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500" b="1">
                <a:solidFill>
                  <a:srgbClr val="0F172A"/>
                </a:solidFill>
                <a:latin typeface="Georgia"/>
              </a:rPr>
              <a:t>实施路线图：10 周搭建高弹性、高治理能力的现代化 Azure 湖仓平台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22960"/>
            <a:ext cx="8138159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050" b="0">
                <a:solidFill>
                  <a:srgbClr val="005A9C"/>
                </a:solidFill>
                <a:latin typeface="Microsoft YaHei"/>
              </a:rPr>
              <a:t>遵循敏捷迭代与规范驱动开发原则，前置架构与治理基线，分四阶段稳步实现生产级投产与价值验证。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8138159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07008"/>
            <a:ext cx="1931669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PHASE 1 ｜ 2 周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基础设施与安全基线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VNet 网络与私有端点 (Private Link) 规划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部署 ADF、Databricks 与 Synapse 工作区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Key Vault 统一凭据托管与 Entra ID 授权</a:t>
            </a:r>
          </a:p>
          <a:p>
            <a:pPr>
              <a:spcBef>
                <a:spcPts val="400"/>
              </a:spcBef>
            </a:pPr>
            <a:r>
              <a:rPr sz="650" b="1">
                <a:solidFill>
                  <a:srgbClr val="005A9C"/>
                </a:solidFill>
                <a:latin typeface="Microsoft YaHei"/>
              </a:rPr>
              <a:t>退出标准: </a:t>
            </a:r>
            <a:r>
              <a:rPr sz="650">
                <a:solidFill>
                  <a:srgbClr val="64748B"/>
                </a:solidFill>
                <a:latin typeface="Microsoft YaHei"/>
              </a:rPr>
              <a:t>基础设施自动化部署通过，安全基线评审无阻断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71750" y="1207008"/>
            <a:ext cx="1931669" cy="1645920"/>
          </a:xfrm>
          <a:prstGeom prst="roundRect">
            <a:avLst/>
          </a:prstGeom>
          <a:solidFill>
            <a:srgbClr val="EAF4FB"/>
          </a:solidFill>
          <a:ln w="1905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PHASE 2 ｜ 4 周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核心流水线与湖仓精炼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ADF 首批核心源系统抽取管道调优 (小时级/天级)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编写 Databricks Auto Loader 与 Bronze/Silver 作业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建立数据质量校验规则库与监控告警机制</a:t>
            </a:r>
          </a:p>
          <a:p>
            <a:pPr>
              <a:spcBef>
                <a:spcPts val="400"/>
              </a:spcBef>
            </a:pPr>
            <a:r>
              <a:rPr sz="650" b="1">
                <a:solidFill>
                  <a:srgbClr val="005A9C"/>
                </a:solidFill>
                <a:latin typeface="Microsoft YaHei"/>
              </a:rPr>
              <a:t>退出标准: </a:t>
            </a:r>
            <a:r>
              <a:rPr sz="650">
                <a:solidFill>
                  <a:srgbClr val="64748B"/>
                </a:solidFill>
                <a:latin typeface="Microsoft YaHei"/>
              </a:rPr>
              <a:t>首批核心系统端到端冒烟测试全部通过，吞吐达标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0579" y="1207008"/>
            <a:ext cx="1931669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PHASE 3 ｜ 3 周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数仓建模与 BI 报表集成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Synapse 专用 SQL 池星型模型建立 (Fact/Dim)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调优 PolyBase 高速链路，Gold层加速分发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Power BI 核心管理看板搭建与 DirectLake 性能压测</a:t>
            </a:r>
          </a:p>
          <a:p>
            <a:pPr>
              <a:spcBef>
                <a:spcPts val="400"/>
              </a:spcBef>
            </a:pPr>
            <a:r>
              <a:rPr sz="650" b="1">
                <a:solidFill>
                  <a:srgbClr val="005A9C"/>
                </a:solidFill>
                <a:latin typeface="Microsoft YaHei"/>
              </a:rPr>
              <a:t>退出标准: </a:t>
            </a:r>
            <a:r>
              <a:rPr sz="650">
                <a:solidFill>
                  <a:srgbClr val="64748B"/>
                </a:solidFill>
                <a:latin typeface="Microsoft YaHei"/>
              </a:rPr>
              <a:t>关键业务用户开展 UAT 验收并签署确认书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09409" y="1207008"/>
            <a:ext cx="1931669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54864" lIns="73152" rIns="73152"/>
          <a:lstStyle/>
          <a:p>
            <a:pPr algn="ctr"/>
            <a:r>
              <a:rPr sz="850" b="1">
                <a:solidFill>
                  <a:srgbClr val="005A9C"/>
                </a:solidFill>
                <a:latin typeface="Georgia"/>
              </a:rPr>
              <a:t>PHASE 4 ｜ 1 周
</a:t>
            </a:r>
          </a:p>
          <a:p>
            <a:r>
              <a:rPr sz="950" b="1">
                <a:solidFill>
                  <a:srgbClr val="0F172A"/>
                </a:solidFill>
                <a:latin typeface="Georgia"/>
              </a:rPr>
              <a:t>生产割接与平稳运维交接
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生产环境同构部署与网络策略最终放行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全量历史数据一次性对账核对与增量追平</a:t>
            </a:r>
          </a:p>
          <a:p>
            <a:pPr>
              <a:spcBef>
                <a:spcPts val="200"/>
              </a:spcBef>
            </a:pPr>
            <a:r>
              <a:rPr sz="700">
                <a:solidFill>
                  <a:srgbClr val="334155"/>
                </a:solidFill>
                <a:latin typeface="Microsoft YaHei"/>
              </a:rPr>
              <a:t>• 上线投产、团队运维赋能培训与平稳交接</a:t>
            </a:r>
          </a:p>
          <a:p>
            <a:pPr>
              <a:spcBef>
                <a:spcPts val="400"/>
              </a:spcBef>
            </a:pPr>
            <a:r>
              <a:rPr sz="650" b="1">
                <a:solidFill>
                  <a:srgbClr val="005A9C"/>
                </a:solidFill>
                <a:latin typeface="Microsoft YaHei"/>
              </a:rPr>
              <a:t>退出标准: </a:t>
            </a:r>
            <a:r>
              <a:rPr sz="650">
                <a:solidFill>
                  <a:srgbClr val="64748B"/>
                </a:solidFill>
                <a:latin typeface="Microsoft YaHei"/>
              </a:rPr>
              <a:t>生产环境稳定运行 72 小时无重大缺陷，进入维保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0088"/>
            <a:ext cx="472013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lIns="109728" rIns="109728"/>
          <a:lstStyle/>
          <a:p>
            <a:pPr algn="ctr"/>
            <a:r>
              <a:rPr sz="950" b="1">
                <a:solidFill>
                  <a:srgbClr val="005A9C"/>
                </a:solidFill>
                <a:latin typeface="Georgia"/>
              </a:rPr>
              <a:t>实施投入与交付效率对比 (Delivery Efficiency)
</a:t>
            </a:r>
          </a:p>
          <a:p>
            <a:pPr>
              <a:spcBef>
                <a:spcPts val="300"/>
              </a:spcBef>
            </a:pPr>
            <a:r>
              <a:rPr sz="800">
                <a:solidFill>
                  <a:srgbClr val="334155"/>
                </a:solidFill>
                <a:latin typeface="Microsoft YaHei"/>
              </a:rPr>
              <a:t>传统定制开发模式： 240 人天 (各组件手工粘合，周期长达 5 个月)
</a:t>
            </a:r>
            <a:r>
              <a:rPr sz="800" b="1">
                <a:solidFill>
                  <a:srgbClr val="10B981"/>
                </a:solidFill>
                <a:latin typeface="Microsoft YaHei"/>
              </a:rPr>
              <a:t>现代化协同架构模式： 145 人天 (规范驱动 + PaaS全托管，工期提效 ~40%)
</a:t>
            </a:r>
          </a:p>
          <a:p>
            <a:pPr>
              <a:spcBef>
                <a:spcPts val="300"/>
              </a:spcBef>
            </a:pPr>
            <a:r>
              <a:rPr sz="700">
                <a:solidFill>
                  <a:srgbClr val="64748B"/>
                </a:solidFill>
                <a:latin typeface="Microsoft YaHei"/>
              </a:rPr>
              <a:t>💡 前置完成网络与治理基线建设，通过 Medallion 标准分层大幅避免后期返工与组件重复建设。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60212" y="2990088"/>
            <a:ext cx="3280867" cy="362712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/>
          <a:lstStyle/>
          <a:p>
            <a:pPr algn="ctr"/>
            <a:r>
              <a:rPr sz="1100" b="1">
                <a:solidFill>
                  <a:srgbClr val="005A9C"/>
                </a:solidFill>
                <a:latin typeface="Georgia"/>
              </a:rPr>
              <a:t>95 人天  </a:t>
            </a:r>
            <a:r>
              <a:rPr sz="750">
                <a:solidFill>
                  <a:srgbClr val="334155"/>
                </a:solidFill>
                <a:latin typeface="Microsoft YaHei"/>
              </a:rPr>
              <a:t>~40% 交付工期与人天净节省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60212" y="3425952"/>
            <a:ext cx="3280867" cy="362712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/>
          <a:lstStyle/>
          <a:p>
            <a:pPr algn="ctr"/>
            <a:r>
              <a:rPr sz="1100" b="1">
                <a:solidFill>
                  <a:srgbClr val="005A9C"/>
                </a:solidFill>
                <a:latin typeface="Georgia"/>
              </a:rPr>
              <a:t>10 周  </a:t>
            </a:r>
            <a:r>
              <a:rPr sz="750">
                <a:solidFill>
                  <a:srgbClr val="334155"/>
                </a:solidFill>
                <a:latin typeface="Microsoft YaHei"/>
              </a:rPr>
              <a:t>约 2.5 个月完成全平台投产上线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60212" y="3861816"/>
            <a:ext cx="3280867" cy="362712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18288"/>
          <a:lstStyle/>
          <a:p>
            <a:pPr algn="ctr"/>
            <a:r>
              <a:rPr sz="1100" b="1">
                <a:solidFill>
                  <a:srgbClr val="005A9C"/>
                </a:solidFill>
                <a:latin typeface="Georgia"/>
              </a:rPr>
              <a:t>3-4 人  </a:t>
            </a:r>
            <a:r>
              <a:rPr sz="750">
                <a:solidFill>
                  <a:srgbClr val="334155"/>
                </a:solidFill>
                <a:latin typeface="Microsoft YaHei"/>
              </a:rPr>
              <a:t>精益核心交付团队 (云架构+数仓+BI)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462272"/>
            <a:ext cx="8138159" cy="384048"/>
          </a:xfrm>
          <a:prstGeom prst="roundRect">
            <a:avLst/>
          </a:prstGeom>
          <a:solidFill>
            <a:srgbClr val="EAF4FB"/>
          </a:solidFill>
          <a:ln w="12700">
            <a:solidFill>
              <a:srgbClr val="009C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 lIns="137160" rIns="137160"/>
          <a:lstStyle/>
          <a:p>
            <a:pPr algn="ctr"/>
            <a:r>
              <a:rPr sz="850" b="1">
                <a:solidFill>
                  <a:srgbClr val="005A9C"/>
                </a:solidFill>
                <a:latin typeface="Microsoft YaHei"/>
              </a:rPr>
              <a:t>【实施建议】 </a:t>
            </a:r>
            <a:r>
              <a:rPr sz="850" b="0">
                <a:solidFill>
                  <a:srgbClr val="0F172A"/>
                </a:solidFill>
                <a:latin typeface="Microsoft YaHei"/>
              </a:rPr>
              <a:t>建议采取敏捷迭代交付模式：以首批高频业务系统打通全链路闭环，形成可复制标准，后续系统接入即可实现流水线式快速迁移。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