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AccentBar"/>
          <p:cNvSpPr/>
          <p:nvPr/>
        </p:nvSpPr>
        <p:spPr>
          <a:xfrm>
            <a:off x="502920" y="1097280"/>
            <a:ext cx="137160" cy="237744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777239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09CDE"/>
                </a:solidFill>
                <a:latin typeface="Georgia"/>
              </a:rPr>
              <a:t>ENTERPRISE CLOUD DATA PLATFORM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772399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Georgia"/>
              </a:rPr>
              <a:t>Azure Modern 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777239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EAF4FB"/>
                </a:solidFill>
                <a:latin typeface="Microsoft YaHei"/>
              </a:rPr>
              <a:t>基于 Azure Databricks、ADF 与 Synapse 的现代化湖仓协同架构建议书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11980"/>
            <a:ext cx="7772399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850" b="0" i="0">
                <a:solidFill>
                  <a:srgbClr val="64748B"/>
                </a:solidFill>
                <a:latin typeface="Microsoft YaHei"/>
              </a:rPr>
              <a:t>Enterprise Cloud Architecture Practice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Tracker"/>
          <p:cNvSpPr txBox="1"/>
          <p:nvPr/>
        </p:nvSpPr>
        <p:spPr>
          <a:xfrm>
            <a:off x="502920" y="320040"/>
            <a:ext cx="8138159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Georgia"/>
              </a:rPr>
              <a:t>AZURE DATA PLATFORM STRATEGY | CORE ROLES &amp; POSITIONING</a:t>
            </a:r>
          </a:p>
        </p:txBody>
      </p:sp>
      <p:sp>
        <p:nvSpPr>
          <p:cNvPr id="3" name="HeaderActionTitle"/>
          <p:cNvSpPr txBox="1"/>
          <p:nvPr/>
        </p:nvSpPr>
        <p:spPr>
          <a:xfrm>
            <a:off x="502920" y="521207"/>
            <a:ext cx="813815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Georgia"/>
              </a:rPr>
              <a:t>战略定位：ADF、Databricks 与 Synapse 各司其职，形成现代化协同数据底座</a:t>
            </a:r>
          </a:p>
        </p:txBody>
      </p:sp>
      <p:sp>
        <p:nvSpPr>
          <p:cNvPr id="4" name="HeaderLeadNote"/>
          <p:cNvSpPr txBox="1"/>
          <p:nvPr/>
        </p:nvSpPr>
        <p:spPr>
          <a:xfrm>
            <a:off x="502920" y="914400"/>
            <a:ext cx="8138159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05A9C"/>
                </a:solidFill>
                <a:latin typeface="Microsoft YaHei"/>
              </a:rPr>
              <a:t>明确三者在企业数据价值链中的专业分工，打破重复建设与选型困惑，发挥各组件最佳能效。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39"/>
            <a:ext cx="813815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keawayFooter"/>
          <p:cNvSpPr/>
          <p:nvPr/>
        </p:nvSpPr>
        <p:spPr>
          <a:xfrm>
            <a:off x="502920" y="4439412"/>
            <a:ext cx="8138159" cy="36576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137160" rIns="137160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【核心结论】 </a:t>
            </a:r>
            <a:r>
              <a:rPr sz="850" b="0" i="0">
                <a:solidFill>
                  <a:srgbClr val="0F172A"/>
                </a:solidFill>
                <a:latin typeface="Microsoft YaHei"/>
              </a:rPr>
              <a:t>架构黄金准则：以 ADF 为全域编排纽带，以 Databricks 为湖仓计算核心，以 Synapse 为企业级分析与报表消费窗口。</a:t>
            </a:r>
          </a:p>
        </p:txBody>
      </p:sp>
      <p:sp>
        <p:nvSpPr>
          <p:cNvPr id="7" name="Card_1"/>
          <p:cNvSpPr/>
          <p:nvPr/>
        </p:nvSpPr>
        <p:spPr>
          <a:xfrm>
            <a:off x="502920" y="1280160"/>
            <a:ext cx="2621279" cy="2674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_1_Badge"/>
          <p:cNvSpPr/>
          <p:nvPr/>
        </p:nvSpPr>
        <p:spPr>
          <a:xfrm>
            <a:off x="612648" y="1371600"/>
            <a:ext cx="594360" cy="201168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27632"/>
            <a:ext cx="240182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Azure Data Factory (ADF)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01952"/>
            <a:ext cx="240182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全域数据集成与调度编排中枢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57984"/>
            <a:ext cx="240182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全域连接能力：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内置 100+ 原生连接器，覆盖本地多机房、第三方云与 SaaS 应用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Serverless 弹性调度：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事件触发、时间轮询与动态参数化管道控制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安全混合网络：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自托管集成运行时 (SHIR)，打通专线、VNet 与私有端点 (Private Endpoint)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数据抽取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3255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多源编排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3863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混合网络</a:t>
            </a:r>
          </a:p>
        </p:txBody>
      </p:sp>
      <p:sp>
        <p:nvSpPr>
          <p:cNvPr id="15" name="Card_2"/>
          <p:cNvSpPr/>
          <p:nvPr/>
        </p:nvSpPr>
        <p:spPr>
          <a:xfrm>
            <a:off x="3261359" y="1280160"/>
            <a:ext cx="2621279" cy="2674620"/>
          </a:xfrm>
          <a:prstGeom prst="roundRect">
            <a:avLst/>
          </a:prstGeom>
          <a:solidFill>
            <a:srgbClr val="EAF4FB"/>
          </a:solidFill>
          <a:ln w="1905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2_Badge"/>
          <p:cNvSpPr/>
          <p:nvPr/>
        </p:nvSpPr>
        <p:spPr>
          <a:xfrm>
            <a:off x="3371087" y="1371600"/>
            <a:ext cx="594360" cy="201168"/>
          </a:xfrm>
          <a:prstGeom prst="round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1087" y="1627632"/>
            <a:ext cx="240182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Azure Databricks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1087" y="1901952"/>
            <a:ext cx="240182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现代化湖仓一体与智能计算核心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1087" y="2157984"/>
            <a:ext cx="240182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Medallion 奖章架构：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驱动 Bronze 原始层 -&gt; Silver 清洗层 -&gt; Gold 业务层的精炼流转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极致大数据性能：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Photon 向量化执行引擎 + Delta Lake ACID 事务保障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统一数据智能：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Unity Catalog 统一数据治理，集成 MLflow 提供端到端 AI/ML 赋能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1087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Delta 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1695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Spark计算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72303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AI/ML赋能</a:t>
            </a:r>
          </a:p>
        </p:txBody>
      </p:sp>
      <p:sp>
        <p:nvSpPr>
          <p:cNvPr id="23" name="Card_3"/>
          <p:cNvSpPr/>
          <p:nvPr/>
        </p:nvSpPr>
        <p:spPr>
          <a:xfrm>
            <a:off x="6019799" y="1280160"/>
            <a:ext cx="2621279" cy="2674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_3_Badge"/>
          <p:cNvSpPr/>
          <p:nvPr/>
        </p:nvSpPr>
        <p:spPr>
          <a:xfrm>
            <a:off x="6129527" y="1371600"/>
            <a:ext cx="594360" cy="201168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9527" y="1627632"/>
            <a:ext cx="240182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Azure Synapse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9527" y="1901952"/>
            <a:ext cx="240182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企业级数仓与高性能 BI 报表服务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9527" y="2157984"/>
            <a:ext cx="240182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专用 SQL 池 (Dedicated)：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MPP 大规模并行处理，承载核心企业数据仓库与复杂主题集市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无服务器即席查询 (Serverless)：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按查询数据量计费，分钟级轻量探索数据湖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无缝消费体验：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与 Power BI 深度集成，支持大规模高并发决策报表秒级响应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9527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企业数仓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0135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MPP架构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30743" y="3662172"/>
            <a:ext cx="754887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BI无缝连接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Tracker"/>
          <p:cNvSpPr txBox="1"/>
          <p:nvPr/>
        </p:nvSpPr>
        <p:spPr>
          <a:xfrm>
            <a:off x="502920" y="320040"/>
            <a:ext cx="8138159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Georgia"/>
              </a:rPr>
              <a:t>AZURE DATA PLATFORM ARCHITECTURE | END-TO-END BLUEPRINT</a:t>
            </a:r>
          </a:p>
        </p:txBody>
      </p:sp>
      <p:sp>
        <p:nvSpPr>
          <p:cNvPr id="3" name="HeaderActionTitle"/>
          <p:cNvSpPr txBox="1"/>
          <p:nvPr/>
        </p:nvSpPr>
        <p:spPr>
          <a:xfrm>
            <a:off x="502920" y="521207"/>
            <a:ext cx="813815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Georgia"/>
              </a:rPr>
              <a:t>技术蓝图：基于 Medallion 奖章体系的 Azure 四层现代化数据架构</a:t>
            </a:r>
          </a:p>
        </p:txBody>
      </p:sp>
      <p:sp>
        <p:nvSpPr>
          <p:cNvPr id="4" name="HeaderLeadNote"/>
          <p:cNvSpPr txBox="1"/>
          <p:nvPr/>
        </p:nvSpPr>
        <p:spPr>
          <a:xfrm>
            <a:off x="502920" y="914400"/>
            <a:ext cx="8138159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05A9C"/>
                </a:solidFill>
                <a:latin typeface="Microsoft YaHei"/>
              </a:rPr>
              <a:t>分层解耦架构：统一数据接入、湖仓精炼、数仓建模与业务消费，构建全链路可治理的云上数据底座。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39"/>
            <a:ext cx="813815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keawayFooter"/>
          <p:cNvSpPr/>
          <p:nvPr/>
        </p:nvSpPr>
        <p:spPr>
          <a:xfrm>
            <a:off x="502920" y="4439412"/>
            <a:ext cx="8138159" cy="36576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137160" rIns="137160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【核心结论】 </a:t>
            </a:r>
            <a:r>
              <a:rPr sz="850" b="0" i="0">
                <a:solidFill>
                  <a:srgbClr val="0F172A"/>
                </a:solidFill>
                <a:latin typeface="Microsoft YaHei"/>
              </a:rPr>
              <a:t>端到端安全基线：全链路托管标识 (Managed Identity) 免密互通，Unity Catalog 与 Purview 实现表/行/列级权限及全生命周期血缘跟踪。</a:t>
            </a:r>
          </a:p>
        </p:txBody>
      </p:sp>
      <p:sp>
        <p:nvSpPr>
          <p:cNvPr id="7" name="ArchLayer_01_Label"/>
          <p:cNvSpPr/>
          <p:nvPr/>
        </p:nvSpPr>
        <p:spPr>
          <a:xfrm>
            <a:off x="502920" y="1280160"/>
            <a:ext cx="1234440" cy="558927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l"/>
            <a:r>
              <a:rPr sz="700" b="1" i="0">
                <a:solidFill>
                  <a:srgbClr val="005A9C"/>
                </a:solidFill>
                <a:latin typeface="Georgia"/>
              </a:rPr>
              <a:t>01  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消费与洞察层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CONSUMPTION LAYER</a:t>
            </a:r>
          </a:p>
        </p:txBody>
      </p:sp>
      <p:sp>
        <p:nvSpPr>
          <p:cNvPr id="8" name="ArchModule_01_1"/>
          <p:cNvSpPr/>
          <p:nvPr/>
        </p:nvSpPr>
        <p:spPr>
          <a:xfrm>
            <a:off x="1847088" y="1280160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Power BI 敏捷可视化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直连 Synapse 与 Databricks SQL，提供秒级响应的经营管理大屏与自助探索</a:t>
            </a:r>
          </a:p>
        </p:txBody>
      </p:sp>
      <p:sp>
        <p:nvSpPr>
          <p:cNvPr id="9" name="ArchModule_01_2"/>
          <p:cNvSpPr/>
          <p:nvPr/>
        </p:nvSpPr>
        <p:spPr>
          <a:xfrm>
            <a:off x="3568446" y="1280160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企业级报表与仪表盘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定期生成合规财务报表、运营日报与多维度钻取报表，支持邮件订阅与导出</a:t>
            </a:r>
          </a:p>
        </p:txBody>
      </p:sp>
      <p:sp>
        <p:nvSpPr>
          <p:cNvPr id="10" name="ArchModule_01_3"/>
          <p:cNvSpPr/>
          <p:nvPr/>
        </p:nvSpPr>
        <p:spPr>
          <a:xfrm>
            <a:off x="5289804" y="1280160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机器学习与 AI 应用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基于 Azure OpenAI 与 MLflow 模型服务，提供智能预测、自然语言取数与分类推荐</a:t>
            </a:r>
          </a:p>
        </p:txBody>
      </p:sp>
      <p:sp>
        <p:nvSpPr>
          <p:cNvPr id="11" name="ArchModule_01_4"/>
          <p:cNvSpPr/>
          <p:nvPr/>
        </p:nvSpPr>
        <p:spPr>
          <a:xfrm>
            <a:off x="7011161" y="1280160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第三方应用与开放 API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通过 Azure API Management 统一对外暴露标准微服务接口与逆向 ETL (Reverse ETL)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839087"/>
            <a:ext cx="6793991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650" b="0" i="0">
                <a:solidFill>
                  <a:srgbClr val="64748B"/>
                </a:solidFill>
                <a:latin typeface="Consolas"/>
              </a:rPr>
              <a:t>──  HTTPS 443 · DirectQuery / Import · REST APIs · DirectLake  ──</a:t>
            </a:r>
          </a:p>
        </p:txBody>
      </p:sp>
      <p:sp>
        <p:nvSpPr>
          <p:cNvPr id="13" name="ArchLayer_02_Label"/>
          <p:cNvSpPr/>
          <p:nvPr/>
        </p:nvSpPr>
        <p:spPr>
          <a:xfrm>
            <a:off x="502920" y="1985391"/>
            <a:ext cx="1234440" cy="558927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l"/>
            <a:r>
              <a:rPr sz="700" b="1" i="0">
                <a:solidFill>
                  <a:srgbClr val="009CDE"/>
                </a:solidFill>
                <a:latin typeface="Georgia"/>
              </a:rPr>
              <a:t>02  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建模与服务层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SERVING &amp; MODELING LAYER</a:t>
            </a:r>
          </a:p>
        </p:txBody>
      </p:sp>
      <p:sp>
        <p:nvSpPr>
          <p:cNvPr id="14" name="ArchModule_02_1"/>
          <p:cNvSpPr/>
          <p:nvPr/>
        </p:nvSpPr>
        <p:spPr>
          <a:xfrm>
            <a:off x="1847088" y="1985391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Synapse 专用 SQL 池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MPP 大规模分布式架构，存储企业标准化维度模型 (Kimball 事实表与星型维度表)</a:t>
            </a:r>
          </a:p>
        </p:txBody>
      </p:sp>
      <p:sp>
        <p:nvSpPr>
          <p:cNvPr id="15" name="ArchModule_02_2"/>
          <p:cNvSpPr/>
          <p:nvPr/>
        </p:nvSpPr>
        <p:spPr>
          <a:xfrm>
            <a:off x="3568446" y="1985391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Synapse Serverless SQL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针对 ADLS Gen2 开放文件直接执行原生 T-SQL，零驻留成本即席查询</a:t>
            </a:r>
          </a:p>
        </p:txBody>
      </p:sp>
      <p:sp>
        <p:nvSpPr>
          <p:cNvPr id="16" name="ArchModule_02_3"/>
          <p:cNvSpPr/>
          <p:nvPr/>
        </p:nvSpPr>
        <p:spPr>
          <a:xfrm>
            <a:off x="5289804" y="1985391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Databricks SQL 仓库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Serverless SQL Warehouse，提供高并发湖仓查询与指标语义层定义</a:t>
            </a:r>
          </a:p>
        </p:txBody>
      </p:sp>
      <p:sp>
        <p:nvSpPr>
          <p:cNvPr id="17" name="ArchModule_02_4"/>
          <p:cNvSpPr/>
          <p:nvPr/>
        </p:nvSpPr>
        <p:spPr>
          <a:xfrm>
            <a:off x="7011161" y="1985391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统一元数据治理 (Purview)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跨 ADF、Databricks 与 Synapse 的全局数据目录、敏感数据分类与自动血缘追踪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2544318"/>
            <a:ext cx="6793991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650" b="0" i="0">
                <a:solidFill>
                  <a:srgbClr val="64748B"/>
                </a:solidFill>
                <a:latin typeface="Consolas"/>
              </a:rPr>
              <a:t>──  Synapse Link · JDBC / ODBC · T-SQL · Delta Sharing  ──</a:t>
            </a:r>
          </a:p>
        </p:txBody>
      </p:sp>
      <p:sp>
        <p:nvSpPr>
          <p:cNvPr id="19" name="ArchLayer_03_Label"/>
          <p:cNvSpPr/>
          <p:nvPr/>
        </p:nvSpPr>
        <p:spPr>
          <a:xfrm>
            <a:off x="502920" y="2690622"/>
            <a:ext cx="1234440" cy="558927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l"/>
            <a:r>
              <a:rPr sz="700" b="1" i="0">
                <a:solidFill>
                  <a:srgbClr val="009CDE"/>
                </a:solidFill>
                <a:latin typeface="Georgia"/>
              </a:rPr>
              <a:t>03  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湖仓精炼与计算层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LAKEHOUSE PROCESSING LAYER</a:t>
            </a:r>
          </a:p>
        </p:txBody>
      </p:sp>
      <p:sp>
        <p:nvSpPr>
          <p:cNvPr id="20" name="ArchModule_03_1"/>
          <p:cNvSpPr/>
          <p:nvPr/>
        </p:nvSpPr>
        <p:spPr>
          <a:xfrm>
            <a:off x="1847088" y="2690622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Bronze 原始湖 (Raw)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保留源端原始快照与增量文件，结合 Auto Loader 实现云上毫秒级增量接入</a:t>
            </a:r>
          </a:p>
        </p:txBody>
      </p:sp>
      <p:sp>
        <p:nvSpPr>
          <p:cNvPr id="21" name="ArchModule_03_2"/>
          <p:cNvSpPr/>
          <p:nvPr/>
        </p:nvSpPr>
        <p:spPr>
          <a:xfrm>
            <a:off x="3568446" y="2690622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Silver 清洗层 (Refined)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执行数据清洗、去重、类型推断、Schema 校验与业务实体关联 (Delta 表)</a:t>
            </a:r>
          </a:p>
        </p:txBody>
      </p:sp>
      <p:sp>
        <p:nvSpPr>
          <p:cNvPr id="22" name="ArchModule_03_3"/>
          <p:cNvSpPr/>
          <p:nvPr/>
        </p:nvSpPr>
        <p:spPr>
          <a:xfrm>
            <a:off x="5289804" y="2690622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Gold 业务层 (Aggregated)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高度精炼的主题汇总、指标沉淀与特征工程，支持 ACID 事务与时间旅行</a:t>
            </a:r>
          </a:p>
        </p:txBody>
      </p:sp>
      <p:sp>
        <p:nvSpPr>
          <p:cNvPr id="23" name="ArchModule_03_4"/>
          <p:cNvSpPr/>
          <p:nvPr/>
        </p:nvSpPr>
        <p:spPr>
          <a:xfrm>
            <a:off x="7011161" y="2690622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Unity Catalog 统一中枢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表级/行级/列级统一权限控制，动态敏感字段脱敏与跨平台 Delta Sharing 共享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3249549"/>
            <a:ext cx="6793991" cy="1463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650" b="0" i="0">
                <a:solidFill>
                  <a:srgbClr val="64748B"/>
                </a:solidFill>
                <a:latin typeface="Consolas"/>
              </a:rPr>
              <a:t>──  ABFS 驱动 · Delta Lake 格式 · Apache Spark 3.x · Auto Loader  ──</a:t>
            </a:r>
          </a:p>
        </p:txBody>
      </p:sp>
      <p:sp>
        <p:nvSpPr>
          <p:cNvPr id="25" name="ArchLayer_04_Label"/>
          <p:cNvSpPr/>
          <p:nvPr/>
        </p:nvSpPr>
        <p:spPr>
          <a:xfrm>
            <a:off x="502920" y="3395853"/>
            <a:ext cx="1234440" cy="558927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l"/>
            <a:r>
              <a:rPr sz="700" b="1" i="0">
                <a:solidFill>
                  <a:srgbClr val="009CDE"/>
                </a:solidFill>
                <a:latin typeface="Georgia"/>
              </a:rPr>
              <a:t>04  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接入与基础设施层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INGESTION &amp; INFRASTRUCTURE</a:t>
            </a:r>
          </a:p>
        </p:txBody>
      </p:sp>
      <p:sp>
        <p:nvSpPr>
          <p:cNvPr id="26" name="ArchModule_04_1"/>
          <p:cNvSpPr/>
          <p:nvPr/>
        </p:nvSpPr>
        <p:spPr>
          <a:xfrm>
            <a:off x="1847088" y="3395853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Azure Data Factory (ADF)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全域统一调度编排流水线，支持批量定时抽取与依赖管理，调度 Databricks 笔记本</a:t>
            </a:r>
          </a:p>
        </p:txBody>
      </p:sp>
      <p:sp>
        <p:nvSpPr>
          <p:cNvPr id="27" name="ArchModule_04_2"/>
          <p:cNvSpPr/>
          <p:nvPr/>
        </p:nvSpPr>
        <p:spPr>
          <a:xfrm>
            <a:off x="3568446" y="3395853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实时流式接入 (Event Hubs)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高吞吐接入 IoT 设备、应用埋点与 Kafka 实时消息流，支持微批流式写入</a:t>
            </a:r>
          </a:p>
        </p:txBody>
      </p:sp>
      <p:sp>
        <p:nvSpPr>
          <p:cNvPr id="28" name="ArchModule_04_3"/>
          <p:cNvSpPr/>
          <p:nvPr/>
        </p:nvSpPr>
        <p:spPr>
          <a:xfrm>
            <a:off x="5289804" y="3395853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ADLS Gen2 湖底座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高性价比分层对象存储 (Hot/Cool/Archive)，多协议兼容与私有端点网络隔离</a:t>
            </a:r>
          </a:p>
        </p:txBody>
      </p:sp>
      <p:sp>
        <p:nvSpPr>
          <p:cNvPr id="29" name="ArchModule_04_4"/>
          <p:cNvSpPr/>
          <p:nvPr/>
        </p:nvSpPr>
        <p:spPr>
          <a:xfrm>
            <a:off x="7011161" y="3395853"/>
            <a:ext cx="1629917" cy="55892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 wrap="square"/>
          <a:lstStyle/>
          <a:p>
            <a:pPr algn="ctr"/>
            <a:r>
              <a:rPr sz="900" b="1" i="0">
                <a:solidFill>
                  <a:srgbClr val="005A9C"/>
                </a:solidFill>
                <a:latin typeface="Georgia"/>
              </a:rPr>
              <a:t>企业级安全 (Key Vault)</a:t>
            </a:r>
          </a:p>
          <a:p>
            <a:pPr>
              <a:spcBef>
                <a:spcPts val="200"/>
              </a:spcBef>
            </a:pPr>
            <a:r>
              <a:rPr sz="750" b="0" i="0">
                <a:solidFill>
                  <a:srgbClr val="334155"/>
                </a:solidFill>
                <a:latin typeface="Microsoft YaHei"/>
              </a:rPr>
              <a:t>统一密钥、证书与数据库连接字符串管理，杜绝凭证硬编码风险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Tracker"/>
          <p:cNvSpPr txBox="1"/>
          <p:nvPr/>
        </p:nvSpPr>
        <p:spPr>
          <a:xfrm>
            <a:off x="502920" y="320040"/>
            <a:ext cx="8138159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Georgia"/>
              </a:rPr>
              <a:t>AZURE DATA PLATFORM STRATEGY | TECHNOLOGY EVALUATION</a:t>
            </a:r>
          </a:p>
        </p:txBody>
      </p:sp>
      <p:sp>
        <p:nvSpPr>
          <p:cNvPr id="3" name="HeaderActionTitle"/>
          <p:cNvSpPr txBox="1"/>
          <p:nvPr/>
        </p:nvSpPr>
        <p:spPr>
          <a:xfrm>
            <a:off x="502920" y="521207"/>
            <a:ext cx="813815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Georgia"/>
              </a:rPr>
              <a:t>场景选型比选：在数据接入、复杂转换、湖仓治理与 BI 报表场景下的边界权衡</a:t>
            </a:r>
          </a:p>
        </p:txBody>
      </p:sp>
      <p:sp>
        <p:nvSpPr>
          <p:cNvPr id="4" name="HeaderLeadNote"/>
          <p:cNvSpPr txBox="1"/>
          <p:nvPr/>
        </p:nvSpPr>
        <p:spPr>
          <a:xfrm>
            <a:off x="502920" y="914400"/>
            <a:ext cx="8138159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05A9C"/>
                </a:solidFill>
                <a:latin typeface="Microsoft YaHei"/>
              </a:rPr>
              <a:t>基于企业实际技术诉求，量化评估 ADF、Databricks 与 Synapse 在五大典型业务场景下的适配度与核心优势。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39"/>
            <a:ext cx="813815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pHeader_1"/>
          <p:cNvSpPr/>
          <p:nvPr/>
        </p:nvSpPr>
        <p:spPr>
          <a:xfrm>
            <a:off x="1965960" y="1280160"/>
            <a:ext cx="218846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900" b="1" i="0">
                <a:solidFill>
                  <a:srgbClr val="0F172A"/>
                </a:solidFill>
                <a:latin typeface="Georgia"/>
              </a:rPr>
              <a:t>Azure Data Factory ｜ 编排与多源连接器</a:t>
            </a:r>
          </a:p>
        </p:txBody>
      </p:sp>
      <p:sp>
        <p:nvSpPr>
          <p:cNvPr id="7" name="CompHeader_2"/>
          <p:cNvSpPr/>
          <p:nvPr/>
        </p:nvSpPr>
        <p:spPr>
          <a:xfrm>
            <a:off x="4191000" y="1280160"/>
            <a:ext cx="2188464" cy="292608"/>
          </a:xfrm>
          <a:prstGeom prst="roundRect">
            <a:avLst/>
          </a:prstGeom>
          <a:solidFill>
            <a:srgbClr val="009CDE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★ Azure Databricks ｜ 现代化湖仓与计算核心</a:t>
            </a:r>
          </a:p>
        </p:txBody>
      </p:sp>
      <p:sp>
        <p:nvSpPr>
          <p:cNvPr id="8" name="CompHeader_3"/>
          <p:cNvSpPr/>
          <p:nvPr/>
        </p:nvSpPr>
        <p:spPr>
          <a:xfrm>
            <a:off x="6416040" y="1280160"/>
            <a:ext cx="218846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900" b="1" i="0">
                <a:solidFill>
                  <a:srgbClr val="0F172A"/>
                </a:solidFill>
                <a:latin typeface="Georgia"/>
              </a:rPr>
              <a:t>Azure Synapse ｜ 企业级数仓与报表服务</a:t>
            </a:r>
          </a:p>
        </p:txBody>
      </p:sp>
      <p:sp>
        <p:nvSpPr>
          <p:cNvPr id="9" name="Dimension_01"/>
          <p:cNvSpPr/>
          <p:nvPr/>
        </p:nvSpPr>
        <p:spPr>
          <a:xfrm>
            <a:off x="502920" y="1609344"/>
            <a:ext cx="1417320" cy="38496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0">
                <a:solidFill>
                  <a:srgbClr val="005A9C"/>
                </a:solidFill>
                <a:latin typeface="Georgia"/>
              </a:rPr>
              <a:t>01  异构多源抽取与调度编排
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混合云多源适配、连接器生态、定时轮询与事件依赖编排能力</a:t>
            </a:r>
          </a:p>
        </p:txBody>
      </p:sp>
      <p:sp>
        <p:nvSpPr>
          <p:cNvPr id="10" name="Cell_1_1"/>
          <p:cNvSpPr/>
          <p:nvPr/>
        </p:nvSpPr>
        <p:spPr>
          <a:xfrm>
            <a:off x="1965960" y="1609344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10B981"/>
                </a:solidFill>
                <a:latin typeface="Microsoft YaHei"/>
              </a:rPr>
              <a:t>●  业界顶级编排枢纽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内置 100+ 原生成熟连接器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图形化零代码流水线编排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自托管运行时打通复杂内网</a:t>
            </a:r>
          </a:p>
        </p:txBody>
      </p:sp>
      <p:sp>
        <p:nvSpPr>
          <p:cNvPr id="11" name="Cell_1_2"/>
          <p:cNvSpPr/>
          <p:nvPr/>
        </p:nvSpPr>
        <p:spPr>
          <a:xfrm>
            <a:off x="4191000" y="1609344"/>
            <a:ext cx="2188464" cy="38496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▲  支持但非调度专长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Databricks Workflows 支持轻量调度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外部异构数据源连接需自写代码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混合云内网穿透能力较弱</a:t>
            </a:r>
          </a:p>
        </p:txBody>
      </p:sp>
      <p:sp>
        <p:nvSpPr>
          <p:cNvPr id="12" name="Cell_1_3"/>
          <p:cNvSpPr/>
          <p:nvPr/>
        </p:nvSpPr>
        <p:spPr>
          <a:xfrm>
            <a:off x="6416040" y="1609344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10B981"/>
                </a:solidFill>
                <a:latin typeface="Microsoft YaHei"/>
              </a:rPr>
              <a:t>●  继承 ADF 管道能力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Synapse Pipelines 具备与 ADF 一致能力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支持一体化编排内部计算作业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跨多云连接建议由专职团队维护</a:t>
            </a:r>
          </a:p>
        </p:txBody>
      </p:sp>
      <p:sp>
        <p:nvSpPr>
          <p:cNvPr id="13" name="Dimension_02"/>
          <p:cNvSpPr/>
          <p:nvPr/>
        </p:nvSpPr>
        <p:spPr>
          <a:xfrm>
            <a:off x="502920" y="2030882"/>
            <a:ext cx="1417320" cy="38496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0">
                <a:solidFill>
                  <a:srgbClr val="005A9C"/>
                </a:solidFill>
                <a:latin typeface="Georgia"/>
              </a:rPr>
              <a:t>02  大数据清洗与复杂转换 (ETL/ELT)
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TB/PB 级大数据吞吐性能、复杂业务逻辑处理、非结构化数据处理</a:t>
            </a:r>
          </a:p>
        </p:txBody>
      </p:sp>
      <p:sp>
        <p:nvSpPr>
          <p:cNvPr id="14" name="Cell_2_1"/>
          <p:cNvSpPr/>
          <p:nvPr/>
        </p:nvSpPr>
        <p:spPr>
          <a:xfrm>
            <a:off x="1965960" y="2030882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F59E0B"/>
                </a:solidFill>
                <a:latin typeface="Microsoft YaHei"/>
              </a:rPr>
              <a:t>▲  仅适合轻量转换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Data Flow 学习曲线较高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大规模复杂清洗执行成本较高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更适合 ELT 中的轻量搬运</a:t>
            </a:r>
          </a:p>
        </p:txBody>
      </p:sp>
      <p:sp>
        <p:nvSpPr>
          <p:cNvPr id="15" name="Cell_2_2"/>
          <p:cNvSpPr/>
          <p:nvPr/>
        </p:nvSpPr>
        <p:spPr>
          <a:xfrm>
            <a:off x="4191000" y="2030882"/>
            <a:ext cx="2188464" cy="38496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●  业界公认性能霸主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Photon 向量化引擎极速提效 3-5x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PySpark / Scala 灵活表达复杂逻辑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强大非结构化与半结构化处理能力</a:t>
            </a:r>
          </a:p>
        </p:txBody>
      </p:sp>
      <p:sp>
        <p:nvSpPr>
          <p:cNvPr id="16" name="Cell_2_3"/>
          <p:cNvSpPr/>
          <p:nvPr/>
        </p:nvSpPr>
        <p:spPr>
          <a:xfrm>
            <a:off x="6416040" y="2030882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F59E0B"/>
                </a:solidFill>
                <a:latin typeface="Microsoft YaHei"/>
              </a:rPr>
              <a:t>▲  适合 T-SQL 结构化转换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基于 SQL 存储过程完成库内转换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非结构化与复杂算法支持受限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Spark 集群启动延迟相对较高</a:t>
            </a:r>
          </a:p>
        </p:txBody>
      </p:sp>
      <p:sp>
        <p:nvSpPr>
          <p:cNvPr id="17" name="Dimension_03"/>
          <p:cNvSpPr/>
          <p:nvPr/>
        </p:nvSpPr>
        <p:spPr>
          <a:xfrm>
            <a:off x="502920" y="2452420"/>
            <a:ext cx="1417320" cy="38496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0">
                <a:solidFill>
                  <a:srgbClr val="005A9C"/>
                </a:solidFill>
                <a:latin typeface="Georgia"/>
              </a:rPr>
              <a:t>03  湖仓一体 (Lakehouse) 与流批统一
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ACID 事务、历史版本回溯 (Time Travel)、流批一体处理与开放格式</a:t>
            </a:r>
          </a:p>
        </p:txBody>
      </p:sp>
      <p:sp>
        <p:nvSpPr>
          <p:cNvPr id="18" name="Cell_3_1"/>
          <p:cNvSpPr/>
          <p:nvPr/>
        </p:nvSpPr>
        <p:spPr>
          <a:xfrm>
            <a:off x="1965960" y="2452420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EF4444"/>
                </a:solidFill>
                <a:latin typeface="Microsoft YaHei"/>
              </a:rPr>
              <a:t>○  不具备湖仓存储能力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仅作为数据移动管道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不参与底层存储格式优化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需配合计算引擎维护数据质量</a:t>
            </a:r>
          </a:p>
        </p:txBody>
      </p:sp>
      <p:sp>
        <p:nvSpPr>
          <p:cNvPr id="19" name="Cell_3_2"/>
          <p:cNvSpPr/>
          <p:nvPr/>
        </p:nvSpPr>
        <p:spPr>
          <a:xfrm>
            <a:off x="4191000" y="2452420"/>
            <a:ext cx="2188464" cy="38496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●  Delta Lake 原创引领者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原生 Delta Lake / Iceberg 支持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Auto Loader 毫秒级增量流式入湖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全套时间旅行与数据版本秒级回滚</a:t>
            </a:r>
          </a:p>
        </p:txBody>
      </p:sp>
      <p:sp>
        <p:nvSpPr>
          <p:cNvPr id="20" name="Cell_3_3"/>
          <p:cNvSpPr/>
          <p:nvPr/>
        </p:nvSpPr>
        <p:spPr>
          <a:xfrm>
            <a:off x="6416040" y="2452420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F59E0B"/>
                </a:solidFill>
                <a:latin typeface="Microsoft YaHei"/>
              </a:rPr>
              <a:t>▲  支持部分 Delta 特性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Serverless SQL 支持读取 Delta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流式实时处理功能较弱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湖仓底层高级优化依赖手动操作</a:t>
            </a:r>
          </a:p>
        </p:txBody>
      </p:sp>
      <p:sp>
        <p:nvSpPr>
          <p:cNvPr id="21" name="Dimension_04"/>
          <p:cNvSpPr/>
          <p:nvPr/>
        </p:nvSpPr>
        <p:spPr>
          <a:xfrm>
            <a:off x="502920" y="2873959"/>
            <a:ext cx="1417320" cy="38496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0">
                <a:solidFill>
                  <a:srgbClr val="005A9C"/>
                </a:solidFill>
                <a:latin typeface="Georgia"/>
              </a:rPr>
              <a:t>04  高并发 BI 即席查询与企业数仓 (EDW)
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数千分析师高并发并发、复杂维度建模、亚秒级报表响应</a:t>
            </a:r>
          </a:p>
        </p:txBody>
      </p:sp>
      <p:sp>
        <p:nvSpPr>
          <p:cNvPr id="22" name="Cell_4_1"/>
          <p:cNvSpPr/>
          <p:nvPr/>
        </p:nvSpPr>
        <p:spPr>
          <a:xfrm>
            <a:off x="1965960" y="2873959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EF4444"/>
                </a:solidFill>
                <a:latin typeface="Microsoft YaHei"/>
              </a:rPr>
              <a:t>○  不提供查询服务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无查询接口与 SQL 执行能力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仅输出文件至下游数据库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不参与报表交互层</a:t>
            </a:r>
          </a:p>
        </p:txBody>
      </p:sp>
      <p:sp>
        <p:nvSpPr>
          <p:cNvPr id="23" name="Cell_4_2"/>
          <p:cNvSpPr/>
          <p:nvPr/>
        </p:nvSpPr>
        <p:spPr>
          <a:xfrm>
            <a:off x="4191000" y="2873959"/>
            <a:ext cx="2188464" cy="38496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▲  Databricks SQL 持续提升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Serverless SQL 提供优秀性价比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但极高并发（几千人同时点选）开销大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适合探索性分析与中型报表</a:t>
            </a:r>
          </a:p>
        </p:txBody>
      </p:sp>
      <p:sp>
        <p:nvSpPr>
          <p:cNvPr id="24" name="Cell_4_3"/>
          <p:cNvSpPr/>
          <p:nvPr/>
        </p:nvSpPr>
        <p:spPr>
          <a:xfrm>
            <a:off x="6416040" y="2873959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10B981"/>
                </a:solidFill>
                <a:latin typeface="Microsoft YaHei"/>
              </a:rPr>
              <a:t>●  企业级数仓绝对主力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专用 SQL 池 MPP 并发抗压能力极强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成熟物化视图与结果集缓存机制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深度结合 Power BI 提供秒级聚合</a:t>
            </a:r>
          </a:p>
        </p:txBody>
      </p:sp>
      <p:sp>
        <p:nvSpPr>
          <p:cNvPr id="25" name="Dimension_05"/>
          <p:cNvSpPr/>
          <p:nvPr/>
        </p:nvSpPr>
        <p:spPr>
          <a:xfrm>
            <a:off x="502920" y="3295497"/>
            <a:ext cx="1417320" cy="38496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0">
                <a:solidFill>
                  <a:srgbClr val="005A9C"/>
                </a:solidFill>
                <a:latin typeface="Georgia"/>
              </a:rPr>
              <a:t>05  AI / 机器学习与高级分析
</a:t>
            </a:r>
          </a:p>
          <a:p>
            <a:r>
              <a:rPr sz="650" b="0" i="0">
                <a:solidFill>
                  <a:srgbClr val="64748B"/>
                </a:solidFill>
                <a:latin typeface="Microsoft YaHei"/>
              </a:rPr>
              <a:t>算法模型训练、特征工程、端到端 MLOps 与大语言模型对接</a:t>
            </a:r>
          </a:p>
        </p:txBody>
      </p:sp>
      <p:sp>
        <p:nvSpPr>
          <p:cNvPr id="26" name="Cell_5_1"/>
          <p:cNvSpPr/>
          <p:nvPr/>
        </p:nvSpPr>
        <p:spPr>
          <a:xfrm>
            <a:off x="1965960" y="3295497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EF4444"/>
                </a:solidFill>
                <a:latin typeface="Microsoft YaHei"/>
              </a:rPr>
              <a:t>○  不支持 AI/ML 任务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仅为算法训练搬运样本文件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无算法环境与 GPU 计算能力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模型生命周期不参与</a:t>
            </a:r>
          </a:p>
        </p:txBody>
      </p:sp>
      <p:sp>
        <p:nvSpPr>
          <p:cNvPr id="27" name="Cell_5_2"/>
          <p:cNvSpPr/>
          <p:nvPr/>
        </p:nvSpPr>
        <p:spPr>
          <a:xfrm>
            <a:off x="4191000" y="3295497"/>
            <a:ext cx="2188464" cy="38496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●  一站式 AI/ML 数据智能底座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原生集成 MLflow 模型注册与部署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内置 GPU 加速集群与常见 AI 依赖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无缝承接企业私域知识库与 LLM 微调</a:t>
            </a:r>
          </a:p>
        </p:txBody>
      </p:sp>
      <p:sp>
        <p:nvSpPr>
          <p:cNvPr id="28" name="Cell_5_3"/>
          <p:cNvSpPr/>
          <p:nvPr/>
        </p:nvSpPr>
        <p:spPr>
          <a:xfrm>
            <a:off x="6416040" y="3295497"/>
            <a:ext cx="2188464" cy="38496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73152" rIns="73152" wrap="square"/>
          <a:lstStyle/>
          <a:p>
            <a:pPr algn="ctr"/>
            <a:r>
              <a:rPr sz="850" b="1" i="0">
                <a:solidFill>
                  <a:srgbClr val="F59E0B"/>
                </a:solidFill>
                <a:latin typeface="Microsoft YaHei"/>
              </a:rPr>
              <a:t>▲  支持基础内置算法
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集成 Azure ML 具备轻量预测能力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生态成熟度与开发者偏好低于 Databricks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前沿深度学习需要额外配置</a:t>
            </a:r>
          </a:p>
        </p:txBody>
      </p:sp>
      <p:sp>
        <p:nvSpPr>
          <p:cNvPr id="29" name="RecommendationCard"/>
          <p:cNvSpPr/>
          <p:nvPr/>
        </p:nvSpPr>
        <p:spPr>
          <a:xfrm>
            <a:off x="502920" y="3771900"/>
            <a:ext cx="5045659" cy="59436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★ 协同组合黄金建议：三位一体 (ADF + Databricks + Synapse)：</a:t>
            </a:r>
            <a:r>
              <a:rPr sz="750" b="0" i="0">
                <a:solidFill>
                  <a:srgbClr val="0F172A"/>
                </a:solidFill>
                <a:latin typeface="Microsoft YaHei"/>
              </a:rPr>
              <a:t>绝非三选一的非此即彼，而是三位一体：ADF 承担全域多源接入，Databricks 承担湖仓 Medallion 流批处理与 AI，Synapse 承载企业数仓建模与高并发 BI。</a:t>
            </a:r>
          </a:p>
        </p:txBody>
      </p:sp>
      <p:sp>
        <p:nvSpPr>
          <p:cNvPr id="30" name="TradeoffCard"/>
          <p:cNvSpPr/>
          <p:nvPr/>
        </p:nvSpPr>
        <p:spPr>
          <a:xfrm>
            <a:off x="5711342" y="3771900"/>
            <a:ext cx="2929737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F172A"/>
                </a:solidFill>
                <a:latin typeface="Microsoft YaHei"/>
              </a:rPr>
              <a:t>⚖ 关键取舍 (Trade-off)：</a:t>
            </a:r>
            <a:r>
              <a:rPr sz="750" b="0" i="0">
                <a:solidFill>
                  <a:srgbClr val="334155"/>
                </a:solidFill>
                <a:latin typeface="Microsoft YaHei"/>
              </a:rPr>
              <a:t>若团队规模极小且仅有传统 SQL 人员，可先以 ADF + Synapse 起步；当引入非结构化数据、AI/ML 或流式实时计算时，必须引入 Databricks。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Tracker"/>
          <p:cNvSpPr txBox="1"/>
          <p:nvPr/>
        </p:nvSpPr>
        <p:spPr>
          <a:xfrm>
            <a:off x="502920" y="320040"/>
            <a:ext cx="8138159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Georgia"/>
              </a:rPr>
              <a:t>AZURE DATA PLATFORM IMPLEMENTATION | DATA LIFECYCLE</a:t>
            </a:r>
          </a:p>
        </p:txBody>
      </p:sp>
      <p:sp>
        <p:nvSpPr>
          <p:cNvPr id="3" name="HeaderActionTitle"/>
          <p:cNvSpPr txBox="1"/>
          <p:nvPr/>
        </p:nvSpPr>
        <p:spPr>
          <a:xfrm>
            <a:off x="502920" y="521207"/>
            <a:ext cx="813815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Georgia"/>
              </a:rPr>
              <a:t>端到端数据流水线：从源端抽取到分析服务的 4 阶段标准化落地闭环</a:t>
            </a:r>
          </a:p>
        </p:txBody>
      </p:sp>
      <p:sp>
        <p:nvSpPr>
          <p:cNvPr id="4" name="HeaderLeadNote"/>
          <p:cNvSpPr txBox="1"/>
          <p:nvPr/>
        </p:nvSpPr>
        <p:spPr>
          <a:xfrm>
            <a:off x="502920" y="914400"/>
            <a:ext cx="8138159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05A9C"/>
                </a:solidFill>
                <a:latin typeface="Microsoft YaHei"/>
              </a:rPr>
              <a:t>构建清晰的数据流转链路与职责交接面，确保数据从原始状态到商业洞察的高效可靠交付。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39"/>
            <a:ext cx="813815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keawayFooter"/>
          <p:cNvSpPr/>
          <p:nvPr/>
        </p:nvSpPr>
        <p:spPr>
          <a:xfrm>
            <a:off x="502920" y="4439412"/>
            <a:ext cx="8138159" cy="365760"/>
          </a:xfrm>
          <a:prstGeom prst="roundRect">
            <a:avLst/>
          </a:prstGeom>
          <a:solidFill>
            <a:srgbClr val="EAF4FB"/>
          </a:solidFill>
          <a:ln w="9525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137160" rIns="137160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Microsoft YaHei"/>
              </a:rPr>
              <a:t>【核心结论】 </a:t>
            </a:r>
            <a:r>
              <a:rPr sz="850" b="0" i="0">
                <a:solidFill>
                  <a:srgbClr val="0F172A"/>
                </a:solidFill>
                <a:latin typeface="Microsoft YaHei"/>
              </a:rPr>
              <a:t>运行效率收益：端到端增量同步控制在 15 分钟以内，相较传统日级批处理大幅提升业务敏捷度与实时感知力。</a:t>
            </a:r>
          </a:p>
        </p:txBody>
      </p:sp>
      <p:sp>
        <p:nvSpPr>
          <p:cNvPr id="7" name="Card_1"/>
          <p:cNvSpPr/>
          <p:nvPr/>
        </p:nvSpPr>
        <p:spPr>
          <a:xfrm>
            <a:off x="502920" y="1280160"/>
            <a:ext cx="1931669" cy="2674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_1_Badge"/>
          <p:cNvSpPr/>
          <p:nvPr/>
        </p:nvSpPr>
        <p:spPr>
          <a:xfrm>
            <a:off x="612648" y="1371600"/>
            <a:ext cx="594360" cy="201168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27632"/>
            <a:ext cx="171221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Stage 1: 统一抽取与落地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01952"/>
            <a:ext cx="171221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Raw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57984"/>
            <a:ext cx="171221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ADF 触发增量抓取：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按水印字段 (Watermark) 轮询源库，抽取变动增量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落地 ADLS Gen2：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写入 Bronze 存储桶，严格按日期时间分区归档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元数据登记：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写入抽取流水日志，记录行数、校验和与耗时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ADF编排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3386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增量抓取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4124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文件落地</a:t>
            </a:r>
          </a:p>
        </p:txBody>
      </p:sp>
      <p:sp>
        <p:nvSpPr>
          <p:cNvPr id="15" name="Card_2"/>
          <p:cNvSpPr/>
          <p:nvPr/>
        </p:nvSpPr>
        <p:spPr>
          <a:xfrm>
            <a:off x="2571750" y="1280160"/>
            <a:ext cx="1931669" cy="2674620"/>
          </a:xfrm>
          <a:prstGeom prst="roundRect">
            <a:avLst/>
          </a:prstGeom>
          <a:solidFill>
            <a:srgbClr val="EAF4FB"/>
          </a:solidFill>
          <a:ln w="1905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2_Badge"/>
          <p:cNvSpPr/>
          <p:nvPr/>
        </p:nvSpPr>
        <p:spPr>
          <a:xfrm>
            <a:off x="2681478" y="1371600"/>
            <a:ext cx="594360" cy="201168"/>
          </a:xfrm>
          <a:prstGeom prst="round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1478" y="1627632"/>
            <a:ext cx="171221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Stage 2: 湖仓精炼与清洗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1478" y="1901952"/>
            <a:ext cx="171221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Bronze to Silver Refinement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1478" y="2157984"/>
            <a:ext cx="171221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Auto Loader 自动感应：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无需扫描全目录，事件驱动即时感知新文件入湖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Delta 表写入：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执行类型转换、去重、Schema 演进验证与异常数据分流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数据质量核验：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定义 Great Expectations 规则，保证 Silver 洁净度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81478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Databricks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52216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Auto Loader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22954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数据清洗</a:t>
            </a:r>
          </a:p>
        </p:txBody>
      </p:sp>
      <p:sp>
        <p:nvSpPr>
          <p:cNvPr id="23" name="Card_3"/>
          <p:cNvSpPr/>
          <p:nvPr/>
        </p:nvSpPr>
        <p:spPr>
          <a:xfrm>
            <a:off x="4640579" y="1280160"/>
            <a:ext cx="1931669" cy="2674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_3_Badge"/>
          <p:cNvSpPr/>
          <p:nvPr/>
        </p:nvSpPr>
        <p:spPr>
          <a:xfrm>
            <a:off x="4750307" y="1371600"/>
            <a:ext cx="594360" cy="201168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0307" y="1627632"/>
            <a:ext cx="171221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Stage 3: 聚合建模与特征加工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0307" y="1901952"/>
            <a:ext cx="171221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Silver to Gold Aggregation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0307" y="2157984"/>
            <a:ext cx="171221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主题宽表构建：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基于业务逻辑组装客户全景、订单明细与产品主数据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指标统一定义：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统一口径计算 GMV、毛利、复购率等关键经营指标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特征工程沉淀：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为推荐算法与风控模型输出高质量特征特征库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0307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主题建模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1045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指标沉淀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1783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Delta Lake</a:t>
            </a:r>
          </a:p>
        </p:txBody>
      </p:sp>
      <p:sp>
        <p:nvSpPr>
          <p:cNvPr id="31" name="Card_4"/>
          <p:cNvSpPr/>
          <p:nvPr/>
        </p:nvSpPr>
        <p:spPr>
          <a:xfrm>
            <a:off x="6709409" y="1280160"/>
            <a:ext cx="1931669" cy="2674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_4_Badge"/>
          <p:cNvSpPr/>
          <p:nvPr/>
        </p:nvSpPr>
        <p:spPr>
          <a:xfrm>
            <a:off x="6819138" y="1371600"/>
            <a:ext cx="594360" cy="201168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7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9138" y="1627632"/>
            <a:ext cx="1712213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0F172A"/>
                </a:solidFill>
                <a:latin typeface="Georgia"/>
              </a:rPr>
              <a:t>Stage 4: 高并发服务与报表交付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9138" y="1901952"/>
            <a:ext cx="1712213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Microsoft YaHei"/>
              </a:rPr>
              <a:t>Serving &amp; BI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9138" y="2157984"/>
            <a:ext cx="1712213" cy="138531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推送到 Synapse：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通过 PolyBase / COPY 命令高速写入专用 SQL 池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语义模型构建：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在 Power BI 中建立星型模式，启用 DirectLake 极速直连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155"/>
                </a:solidFill>
                <a:latin typeface="Microsoft YaHei"/>
              </a:rPr>
              <a:t>• 分级缓存加速：</a:t>
            </a:r>
            <a:r>
              <a:rPr sz="850" b="0" i="0">
                <a:solidFill>
                  <a:srgbClr val="334155"/>
                </a:solidFill>
                <a:latin typeface="Microsoft YaHei"/>
              </a:rPr>
              <a:t>启用物化视图与结果集缓存，保障千人并发无卡顿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9138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Synapse专用池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9876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Power BI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60614" y="3662172"/>
            <a:ext cx="525018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144" bIns="9144" lIns="27432" rIns="27432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秒级响应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Tracker"/>
          <p:cNvSpPr txBox="1"/>
          <p:nvPr/>
        </p:nvSpPr>
        <p:spPr>
          <a:xfrm>
            <a:off x="502920" y="320040"/>
            <a:ext cx="8138159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750" b="0" i="0">
                <a:solidFill>
                  <a:srgbClr val="64748B"/>
                </a:solidFill>
                <a:latin typeface="Georgia"/>
              </a:rPr>
              <a:t>AZURE DATA PLATFORM IMPLEMENTATION | PROJECT ROADMAP</a:t>
            </a:r>
          </a:p>
        </p:txBody>
      </p:sp>
      <p:sp>
        <p:nvSpPr>
          <p:cNvPr id="3" name="HeaderActionTitle"/>
          <p:cNvSpPr txBox="1"/>
          <p:nvPr/>
        </p:nvSpPr>
        <p:spPr>
          <a:xfrm>
            <a:off x="502920" y="521207"/>
            <a:ext cx="8138159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1" i="0">
                <a:solidFill>
                  <a:srgbClr val="0F172A"/>
                </a:solidFill>
                <a:latin typeface="Georgia"/>
              </a:rPr>
              <a:t>实施路线图：10 周搭建高弹性、高治理能力的现代化 Azure 湖仓平台</a:t>
            </a:r>
          </a:p>
        </p:txBody>
      </p:sp>
      <p:sp>
        <p:nvSpPr>
          <p:cNvPr id="4" name="HeaderLeadNote"/>
          <p:cNvSpPr txBox="1"/>
          <p:nvPr/>
        </p:nvSpPr>
        <p:spPr>
          <a:xfrm>
            <a:off x="502920" y="914400"/>
            <a:ext cx="8138159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05A9C"/>
                </a:solidFill>
                <a:latin typeface="Microsoft YaHei"/>
              </a:rPr>
              <a:t>遵循敏捷迭代与规范驱动开发原则，前置架构与治理基线，分四阶段稳步实现生产级投产与价值验证。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39"/>
            <a:ext cx="8138159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admapPhase_1"/>
          <p:cNvSpPr/>
          <p:nvPr/>
        </p:nvSpPr>
        <p:spPr>
          <a:xfrm>
            <a:off x="502920" y="1280160"/>
            <a:ext cx="1965959" cy="11932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Georgia"/>
              </a:rPr>
              <a:t>2 周 ｜ PHASE 1
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云基础设施与安全基线搭建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Azure 租户订阅划分、虚拟网络 (VNet) 与私有端点 (Private Endpoints) 规划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部署 ADF、Databricks 工作区与 Synapse 工作区，打通 Key Vault 统一凭据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Unity Catalog 与 ADLS Gen2 存储挂载，配置 Entra ID RBAC 权限体系</a:t>
            </a:r>
          </a:p>
        </p:txBody>
      </p:sp>
      <p:sp>
        <p:nvSpPr>
          <p:cNvPr id="7" name="ExitCriteria_1"/>
          <p:cNvSpPr/>
          <p:nvPr/>
        </p:nvSpPr>
        <p:spPr>
          <a:xfrm>
            <a:off x="502920" y="2519172"/>
            <a:ext cx="1965959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54864" rIns="54864" wrap="square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退出标准: </a:t>
            </a:r>
            <a:r>
              <a:rPr sz="650" b="0" i="0">
                <a:solidFill>
                  <a:srgbClr val="334155"/>
                </a:solidFill>
                <a:latin typeface="Microsoft YaHei"/>
              </a:rPr>
              <a:t>基础设施自动化部署通过，安全基线评审无阻断缺陷</a:t>
            </a:r>
          </a:p>
        </p:txBody>
      </p:sp>
      <p:sp>
        <p:nvSpPr>
          <p:cNvPr id="8" name="RoadmapPhase_2"/>
          <p:cNvSpPr/>
          <p:nvPr/>
        </p:nvSpPr>
        <p:spPr>
          <a:xfrm>
            <a:off x="2560320" y="1280160"/>
            <a:ext cx="1965959" cy="119329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Georgia"/>
              </a:rPr>
              <a:t>4 周 ｜ PHASE 2
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核心管道开发与湖仓精炼搭建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基于 ADF 搭建首批核心源业务系统抽取流水线 (按小时/天级调度)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编写 Databricks Auto Loader 与 Delta Lake Bronze/Silver 精炼作业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建立数据质量校验规则库与监控告警机制</a:t>
            </a:r>
          </a:p>
        </p:txBody>
      </p:sp>
      <p:sp>
        <p:nvSpPr>
          <p:cNvPr id="9" name="ExitCriteria_2"/>
          <p:cNvSpPr/>
          <p:nvPr/>
        </p:nvSpPr>
        <p:spPr>
          <a:xfrm>
            <a:off x="2560320" y="2519172"/>
            <a:ext cx="1965959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54864" rIns="54864" wrap="square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退出标准: </a:t>
            </a:r>
            <a:r>
              <a:rPr sz="650" b="0" i="0">
                <a:solidFill>
                  <a:srgbClr val="334155"/>
                </a:solidFill>
                <a:latin typeface="Microsoft YaHei"/>
              </a:rPr>
              <a:t>首批核心系统端到端冒烟测试全部通过，清洗吞吐达标</a:t>
            </a:r>
          </a:p>
        </p:txBody>
      </p:sp>
      <p:sp>
        <p:nvSpPr>
          <p:cNvPr id="10" name="RoadmapPhase_3"/>
          <p:cNvSpPr/>
          <p:nvPr/>
        </p:nvSpPr>
        <p:spPr>
          <a:xfrm>
            <a:off x="4617719" y="1280160"/>
            <a:ext cx="1965959" cy="11932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Georgia"/>
              </a:rPr>
              <a:t>3 周 ｜ PHASE 3
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数仓模型构建与 Power BI 报表集成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在 Synapse 专用 SQL 池中建立星型模型 (Fact &amp; Dimension Tables)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调优 PolyBase 高速同步链路，实现 Gold 层到 Synapse 快速分发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在 Power BI 中完成核心管理仪表盘搭建与 DirectLake 性能压测</a:t>
            </a:r>
          </a:p>
        </p:txBody>
      </p:sp>
      <p:sp>
        <p:nvSpPr>
          <p:cNvPr id="11" name="ExitCriteria_3"/>
          <p:cNvSpPr/>
          <p:nvPr/>
        </p:nvSpPr>
        <p:spPr>
          <a:xfrm>
            <a:off x="4617719" y="2519172"/>
            <a:ext cx="1965959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54864" rIns="54864" wrap="square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退出标准: </a:t>
            </a:r>
            <a:r>
              <a:rPr sz="650" b="0" i="0">
                <a:solidFill>
                  <a:srgbClr val="334155"/>
                </a:solidFill>
                <a:latin typeface="Microsoft YaHei"/>
              </a:rPr>
              <a:t>关键业务用户开展 UAT 验收并签署确认书</a:t>
            </a:r>
          </a:p>
        </p:txBody>
      </p:sp>
      <p:sp>
        <p:nvSpPr>
          <p:cNvPr id="12" name="RoadmapPhase_4"/>
          <p:cNvSpPr/>
          <p:nvPr/>
        </p:nvSpPr>
        <p:spPr>
          <a:xfrm>
            <a:off x="6675119" y="1280160"/>
            <a:ext cx="1965959" cy="11932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 lIns="73152" rIns="73152" wrap="square"/>
          <a:lstStyle/>
          <a:p>
            <a:pPr algn="ctr"/>
            <a:r>
              <a:rPr sz="850" b="1" i="0">
                <a:solidFill>
                  <a:srgbClr val="005A9C"/>
                </a:solidFill>
                <a:latin typeface="Georgia"/>
              </a:rPr>
              <a:t>1 周 ｜ PHASE 4
</a:t>
            </a:r>
          </a:p>
          <a:p>
            <a:pPr>
              <a:spcAft>
                <a:spcPts val="200"/>
              </a:spcAft>
            </a:pPr>
            <a:r>
              <a:rPr sz="1000" b="1" i="0">
                <a:solidFill>
                  <a:srgbClr val="0F172A"/>
                </a:solidFill>
                <a:latin typeface="Georgia"/>
              </a:rPr>
              <a:t>生产环境发布与割接运维交接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生产环境组件同构部署与网络策略最终放行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全量历史数据一次性对账核对与增量同步追平</a:t>
            </a:r>
          </a:p>
          <a:p>
            <a:pPr>
              <a:spcBef>
                <a:spcPts val="100"/>
              </a:spcBef>
            </a:pPr>
            <a:r>
              <a:rPr sz="650" b="0" i="0">
                <a:solidFill>
                  <a:srgbClr val="334155"/>
                </a:solidFill>
                <a:latin typeface="Microsoft YaHei"/>
              </a:rPr>
              <a:t>• 上线投产、团队运维赋能培训与平稳技术交接</a:t>
            </a:r>
          </a:p>
        </p:txBody>
      </p:sp>
      <p:sp>
        <p:nvSpPr>
          <p:cNvPr id="13" name="ExitCriteria_4"/>
          <p:cNvSpPr/>
          <p:nvPr/>
        </p:nvSpPr>
        <p:spPr>
          <a:xfrm>
            <a:off x="6675119" y="2519172"/>
            <a:ext cx="1965959" cy="32918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54864" rIns="54864" wrap="square"/>
          <a:lstStyle/>
          <a:p>
            <a:pPr algn="ctr"/>
            <a:r>
              <a:rPr sz="650" b="1" i="0">
                <a:solidFill>
                  <a:srgbClr val="005A9C"/>
                </a:solidFill>
                <a:latin typeface="Microsoft YaHei"/>
              </a:rPr>
              <a:t>退出标准: </a:t>
            </a:r>
            <a:r>
              <a:rPr sz="650" b="0" i="0">
                <a:solidFill>
                  <a:srgbClr val="334155"/>
                </a:solidFill>
                <a:latin typeface="Microsoft YaHei"/>
              </a:rPr>
              <a:t>生产环境稳定运行 72 小时无 P0/P1 告警，平稳进入维保</a:t>
            </a:r>
          </a:p>
        </p:txBody>
      </p:sp>
      <p:sp>
        <p:nvSpPr>
          <p:cNvPr id="14" name="EffortComparisonCard"/>
          <p:cNvSpPr/>
          <p:nvPr/>
        </p:nvSpPr>
        <p:spPr>
          <a:xfrm>
            <a:off x="502920" y="2976372"/>
            <a:ext cx="4720132" cy="1389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54864" lIns="109728" rIns="109728" wrap="square"/>
          <a:lstStyle/>
          <a:p>
            <a:pPr algn="ctr"/>
            <a:r>
              <a:rPr sz="1000" b="1" i="0">
                <a:solidFill>
                  <a:srgbClr val="005A9C"/>
                </a:solidFill>
                <a:latin typeface="Georgia"/>
              </a:rPr>
              <a:t>实施投入对比与交付效率 (Effort Comparison)
</a:t>
            </a:r>
          </a:p>
          <a:p>
            <a:pPr>
              <a:spcBef>
                <a:spcPts val="300"/>
              </a:spcBef>
            </a:pPr>
            <a:r>
              <a:rPr sz="850" b="0" i="0">
                <a:solidFill>
                  <a:srgbClr val="334155"/>
                </a:solidFill>
                <a:latin typeface="Microsoft YaHei"/>
              </a:rPr>
              <a:t>传统 SLC 模式投入： 240 人天 (传统定制集成模式)
</a:t>
            </a:r>
            <a:r>
              <a:rPr sz="850" b="1" i="0">
                <a:solidFill>
                  <a:srgbClr val="10B981"/>
                </a:solidFill>
                <a:latin typeface="Microsoft YaHei"/>
              </a:rPr>
              <a:t>SLC + AI 模式投入： 145 人天 (现代化协同架构 + 规范驱动)  (工期提效 ~40%)
</a:t>
            </a:r>
          </a:p>
          <a:p>
            <a:pPr>
              <a:spcBef>
                <a:spcPts val="300"/>
              </a:spcBef>
            </a:pPr>
            <a:r>
              <a:rPr sz="750" b="0" i="0">
                <a:solidFill>
                  <a:srgbClr val="64748B"/>
                </a:solidFill>
                <a:latin typeface="Microsoft YaHei"/>
              </a:rPr>
              <a:t>💡 标准化四层架构避免后期返工与组件重复建设，全链路托管服务将交付周期由 5 个月压缩至 2.5 个月。</a:t>
            </a:r>
          </a:p>
        </p:txBody>
      </p:sp>
      <p:sp>
        <p:nvSpPr>
          <p:cNvPr id="15" name="KPIMetric_1"/>
          <p:cNvSpPr/>
          <p:nvPr/>
        </p:nvSpPr>
        <p:spPr>
          <a:xfrm>
            <a:off x="5360212" y="2976372"/>
            <a:ext cx="3280867" cy="426719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/>
            <a:r>
              <a:rPr sz="1200" b="1" i="0">
                <a:solidFill>
                  <a:srgbClr val="009CDE"/>
                </a:solidFill>
                <a:latin typeface="Georgia"/>
              </a:rPr>
              <a:t>95 人天  </a:t>
            </a:r>
            <a:r>
              <a:rPr sz="750" b="0" i="0">
                <a:solidFill>
                  <a:srgbClr val="334155"/>
                </a:solidFill>
                <a:latin typeface="Microsoft YaHei"/>
              </a:rPr>
              <a:t>~40% 交付人力与成本节省</a:t>
            </a:r>
          </a:p>
        </p:txBody>
      </p:sp>
      <p:sp>
        <p:nvSpPr>
          <p:cNvPr id="16" name="KPIMetric_2"/>
          <p:cNvSpPr/>
          <p:nvPr/>
        </p:nvSpPr>
        <p:spPr>
          <a:xfrm>
            <a:off x="5360212" y="3457956"/>
            <a:ext cx="3280867" cy="426719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/>
            <a:r>
              <a:rPr sz="1200" b="1" i="0">
                <a:solidFill>
                  <a:srgbClr val="009CDE"/>
                </a:solidFill>
                <a:latin typeface="Georgia"/>
              </a:rPr>
              <a:t>10 周  </a:t>
            </a:r>
            <a:r>
              <a:rPr sz="750" b="0" i="0">
                <a:solidFill>
                  <a:srgbClr val="334155"/>
                </a:solidFill>
                <a:latin typeface="Microsoft YaHei"/>
              </a:rPr>
              <a:t>约 2.5 个月完成全平台投产</a:t>
            </a:r>
          </a:p>
        </p:txBody>
      </p:sp>
      <p:sp>
        <p:nvSpPr>
          <p:cNvPr id="17" name="KPIMetric_3"/>
          <p:cNvSpPr/>
          <p:nvPr/>
        </p:nvSpPr>
        <p:spPr>
          <a:xfrm>
            <a:off x="5360212" y="3939540"/>
            <a:ext cx="3280867" cy="426719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/>
            <a:r>
              <a:rPr sz="1200" b="1" i="0">
                <a:solidFill>
                  <a:srgbClr val="009CDE"/>
                </a:solidFill>
                <a:latin typeface="Georgia"/>
              </a:rPr>
              <a:t>3-4 人  </a:t>
            </a:r>
            <a:r>
              <a:rPr sz="750" b="0" i="0">
                <a:solidFill>
                  <a:srgbClr val="334155"/>
                </a:solidFill>
                <a:latin typeface="Microsoft YaHei"/>
              </a:rPr>
              <a:t>精益核心团队配置 (云架构+数仓+BI)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