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46304" cy="26517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4754880" cy="2743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50" b="1">
                <a:solidFill>
                  <a:srgbClr val="0078D4"/>
                </a:solidFill>
                <a:latin typeface="Georgia"/>
              </a:rPr>
              <a:t>AZURE DATA ARCHITECTURE STRATEGY
</a:t>
            </a:r>
          </a:p>
          <a:p>
            <a:pPr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Georgia"/>
              </a:rPr>
              <a:t>Azure Modern Data
Platform Architecture</a:t>
            </a:r>
          </a:p>
          <a:p>
            <a:pPr>
              <a:spcBef>
                <a:spcPts val="1000"/>
              </a:spcBef>
            </a:pPr>
            <a:r>
              <a:rPr sz="1150">
                <a:solidFill>
                  <a:srgbClr val="EBF5FF"/>
                </a:solidFill>
                <a:latin typeface="Microsoft YaHei"/>
              </a:rPr>
              <a:t>Azure Data Factory (ADF) · Azure Databricks · Azure Synapse
三驾马车协同技术架构与湖仓一体化方案建议书</a:t>
            </a:r>
          </a:p>
          <a:p>
            <a:pPr>
              <a:spcBef>
                <a:spcPts val="1600"/>
              </a:spcBef>
            </a:pPr>
            <a:r>
              <a:rPr sz="850">
                <a:solidFill>
                  <a:srgbClr val="64748B"/>
                </a:solidFill>
                <a:latin typeface="Microsoft YaHei"/>
              </a:rPr>
              <a:t>Cloud Architecture &amp; Data Practice  |  September 2026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051560"/>
            <a:ext cx="3017520" cy="3108960"/>
          </a:xfrm>
          <a:prstGeom prst="roundRect">
            <a:avLst/>
          </a:prstGeom>
          <a:solidFill>
            <a:srgbClr val="0F2140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28016" rIns="128016"/>
          <a:lstStyle/>
          <a:p>
            <a:pPr algn="ctr"/>
            <a:r>
              <a:rPr sz="950" b="1">
                <a:solidFill>
                  <a:srgbClr val="0078D4"/>
                </a:solidFill>
                <a:latin typeface="Georgia"/>
              </a:rPr>
              <a:t>THE ARCHITECTURE TRIAD (三驾马车)
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⚡ Azure Data Factory
</a:t>
            </a:r>
            <a:r>
              <a:rPr sz="700">
                <a:solidFill>
                  <a:srgbClr val="0078D4"/>
                </a:solidFill>
                <a:latin typeface="Consolas"/>
              </a:rPr>
              <a:t>Ingestion &amp; Multi-Source Orchestration
</a:t>
            </a:r>
            <a:r>
              <a:rPr sz="750">
                <a:solidFill>
                  <a:srgbClr val="CBD5E1"/>
                </a:solidFill>
                <a:latin typeface="Microsoft YaHei"/>
              </a:rPr>
              <a:t>全域混合调度纽带 · 100+ 连接器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💎 Azure Databricks
</a:t>
            </a:r>
            <a:r>
              <a:rPr sz="700">
                <a:solidFill>
                  <a:srgbClr val="0078D4"/>
                </a:solidFill>
                <a:latin typeface="Consolas"/>
              </a:rPr>
              <a:t>Lakehouse Core &amp; AI Computing
</a:t>
            </a:r>
            <a:r>
              <a:rPr sz="750">
                <a:solidFill>
                  <a:srgbClr val="CBD5E1"/>
                </a:solidFill>
                <a:latin typeface="Microsoft YaHei"/>
              </a:rPr>
              <a:t>Medallion 湖仓计算核心 · Photon 向量化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🏛️ Azure Synapse
</a:t>
            </a:r>
            <a:r>
              <a:rPr sz="700">
                <a:solidFill>
                  <a:srgbClr val="0078D4"/>
                </a:solidFill>
                <a:latin typeface="Consolas"/>
              </a:rPr>
              <a:t>Enterprise Data Warehousing &amp; Serving
</a:t>
            </a:r>
            <a:r>
              <a:rPr sz="750">
                <a:solidFill>
                  <a:srgbClr val="CBD5E1"/>
                </a:solidFill>
                <a:latin typeface="Microsoft YaHei"/>
              </a:rPr>
              <a:t>专用 SQL 池 MPP · Power BI 极速呈现</a:t>
            </a:r>
          </a:p>
          <a:p>
            <a:pPr>
              <a:spcBef>
                <a:spcPts val="1000"/>
              </a:spcBef>
            </a:pPr>
            <a:r>
              <a:rPr sz="700">
                <a:solidFill>
                  <a:srgbClr val="64748B"/>
                </a:solidFill>
                <a:latin typeface="Microsoft YaHei"/>
              </a:rPr>
              <a:t>统一治理中枢：Unity Catalog + Microsoft Purview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8229600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Georgia"/>
              </a:rPr>
              <a:t>AZURE DATA PLATFORM STRATEGY | CORE ROLES &amp;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8229600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450" b="1">
                <a:solidFill>
                  <a:srgbClr val="0F172A"/>
                </a:solidFill>
                <a:latin typeface="Georgia"/>
              </a:rPr>
              <a:t>三驾马车：ADF、Databricks 与 Synapse 各司其职，打破企业选型困惑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0">
                <a:solidFill>
                  <a:srgbClr val="0078D4"/>
                </a:solidFill>
                <a:latin typeface="Microsoft YaHei"/>
              </a:rPr>
              <a:t>明确三者在企业数据价值链中的专业分工：ADF管管道调度、Databricks管湖仓计算与AI、Synapse管数仓与报表消费。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52144"/>
            <a:ext cx="2621280" cy="2779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bIns="91440" lIns="128016" rIns="128016"/>
          <a:lstStyle/>
          <a:p>
            <a:pPr algn="ctr"/>
            <a:r>
              <a:rPr sz="850" b="1">
                <a:solidFill>
                  <a:srgbClr val="5C2D91"/>
                </a:solidFill>
                <a:latin typeface="Microsoft YaHei"/>
              </a:rPr>
              <a:t>【全域调度接入纽带】
</a:t>
            </a:r>
          </a:p>
          <a:p>
            <a:r>
              <a:rPr sz="1150" b="1">
                <a:solidFill>
                  <a:srgbClr val="0F172A"/>
                </a:solidFill>
                <a:latin typeface="Georgia"/>
              </a:rPr>
              <a:t>Azure Data Factory
</a:t>
            </a:r>
            <a:r>
              <a:rPr sz="650">
                <a:solidFill>
                  <a:srgbClr val="64748B"/>
                </a:solidFill>
                <a:latin typeface="Consolas"/>
              </a:rPr>
              <a:t>ORCHESTRATION &amp; INGESTION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多源连接生态：</a:t>
            </a:r>
            <a:r>
              <a:rPr sz="750">
                <a:solidFill>
                  <a:srgbClr val="334155"/>
                </a:solidFill>
                <a:latin typeface="Microsoft YaHei"/>
              </a:rPr>
              <a:t>内置 100+ 原生成熟连接器，打通本地数据库、云平台与 SaaS。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Serverless 调度编排：</a:t>
            </a:r>
            <a:r>
              <a:rPr sz="750">
                <a:solidFill>
                  <a:srgbClr val="334155"/>
                </a:solidFill>
                <a:latin typeface="Microsoft YaHei"/>
              </a:rPr>
              <a:t>基于事件、时间轮询与动态参数化管道控制，无需常驻服务器。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混合内网穿透：</a:t>
            </a:r>
            <a:r>
              <a:rPr sz="750">
                <a:solidFill>
                  <a:srgbClr val="334155"/>
                </a:solidFill>
                <a:latin typeface="Microsoft YaHei"/>
              </a:rPr>
              <a:t>自托管运行时 (SHIR) 打通机房专线与 Azure VNet 私有网络。</a:t>
            </a:r>
          </a:p>
          <a:p>
            <a:pPr>
              <a:spcBef>
                <a:spcPts val="600"/>
              </a:spcBef>
            </a:pPr>
            <a:r>
              <a:rPr sz="700" b="1">
                <a:solidFill>
                  <a:srgbClr val="10B981"/>
                </a:solidFill>
                <a:latin typeface="Microsoft YaHei"/>
              </a:rPr>
              <a:t>✓ 最佳适用: </a:t>
            </a:r>
            <a:r>
              <a:rPr sz="700">
                <a:solidFill>
                  <a:srgbClr val="334155"/>
                </a:solidFill>
                <a:latin typeface="Microsoft YaHei"/>
              </a:rPr>
              <a:t>跨网络数据抽取、轻量文件落湖、作业触发与全流程自动化编排。
</a:t>
            </a:r>
            <a:r>
              <a:rPr sz="700" b="1">
                <a:solidFill>
                  <a:srgbClr val="EF4444"/>
                </a:solidFill>
                <a:latin typeface="Microsoft YaHei"/>
              </a:rPr>
              <a:t>✕ 边界限制: </a:t>
            </a:r>
            <a:r>
              <a:rPr sz="700">
                <a:solidFill>
                  <a:srgbClr val="334155"/>
                </a:solidFill>
                <a:latin typeface="Microsoft YaHei"/>
              </a:rPr>
              <a:t>极复杂大数据清洗、非结构化音视频处理与多分析师交互查询。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225296"/>
            <a:ext cx="2474976" cy="4572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61360" y="1152144"/>
            <a:ext cx="2621280" cy="2779776"/>
          </a:xfrm>
          <a:prstGeom prst="roundRect">
            <a:avLst/>
          </a:prstGeom>
          <a:solidFill>
            <a:srgbClr val="EBF5FF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bIns="91440" lIns="128016" rIns="128016"/>
          <a:lstStyle/>
          <a:p>
            <a:pPr algn="ctr"/>
            <a:r>
              <a:rPr sz="850" b="1">
                <a:solidFill>
                  <a:srgbClr val="EA3824"/>
                </a:solidFill>
                <a:latin typeface="Microsoft YaHei"/>
              </a:rPr>
              <a:t>【👑 湖仓一体计算核心】
</a:t>
            </a:r>
          </a:p>
          <a:p>
            <a:r>
              <a:rPr sz="1150" b="1">
                <a:solidFill>
                  <a:srgbClr val="0F172A"/>
                </a:solidFill>
                <a:latin typeface="Georgia"/>
              </a:rPr>
              <a:t>Azure Databricks
</a:t>
            </a:r>
            <a:r>
              <a:rPr sz="650">
                <a:solidFill>
                  <a:srgbClr val="64748B"/>
                </a:solidFill>
                <a:latin typeface="Consolas"/>
              </a:rPr>
              <a:t>LAKEHOUSE ENGINE &amp; AI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Medallion 奖章架构：</a:t>
            </a:r>
            <a:r>
              <a:rPr sz="750">
                <a:solidFill>
                  <a:srgbClr val="334155"/>
                </a:solidFill>
                <a:latin typeface="Microsoft YaHei"/>
              </a:rPr>
              <a:t>驱动 Bronze 原始 -&gt; Silver 清洗 -&gt; Gold 业务宽表的逐层精炼。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极致大数据性能：</a:t>
            </a:r>
            <a:r>
              <a:rPr sz="750">
                <a:solidFill>
                  <a:srgbClr val="334155"/>
                </a:solidFill>
                <a:latin typeface="Microsoft YaHei"/>
              </a:rPr>
              <a:t>Photon 向量化执行引擎 + Delta Lake ACID 事务与时间旅行。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统一数据与 AI 治理：</a:t>
            </a:r>
            <a:r>
              <a:rPr sz="750">
                <a:solidFill>
                  <a:srgbClr val="334155"/>
                </a:solidFill>
                <a:latin typeface="Microsoft YaHei"/>
              </a:rPr>
              <a:t>Unity Catalog 提供行/列级细粒度权限控制，原生集成 MLflow。</a:t>
            </a:r>
          </a:p>
          <a:p>
            <a:pPr>
              <a:spcBef>
                <a:spcPts val="600"/>
              </a:spcBef>
            </a:pPr>
            <a:r>
              <a:rPr sz="700" b="1">
                <a:solidFill>
                  <a:srgbClr val="10B981"/>
                </a:solidFill>
                <a:latin typeface="Microsoft YaHei"/>
              </a:rPr>
              <a:t>✓ 最佳适用: </a:t>
            </a:r>
            <a:r>
              <a:rPr sz="700">
                <a:solidFill>
                  <a:srgbClr val="334155"/>
                </a:solidFill>
                <a:latin typeface="Microsoft YaHei"/>
              </a:rPr>
              <a:t>流批一体计算、TB/PB 级复杂清洗转换、特征工程与企业私域 AI 建模。
</a:t>
            </a:r>
            <a:r>
              <a:rPr sz="700" b="1">
                <a:solidFill>
                  <a:srgbClr val="EF4444"/>
                </a:solidFill>
                <a:latin typeface="Microsoft YaHei"/>
              </a:rPr>
              <a:t>✕ 边界限制: </a:t>
            </a:r>
            <a:r>
              <a:rPr sz="700">
                <a:solidFill>
                  <a:srgbClr val="334155"/>
                </a:solidFill>
                <a:latin typeface="Microsoft YaHei"/>
              </a:rPr>
              <a:t>简单的点对点文件搬运调度与数千并发人员同时在线点选看板。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4512" y="1225296"/>
            <a:ext cx="2474976" cy="45720"/>
          </a:xfrm>
          <a:prstGeom prst="rect">
            <a:avLst/>
          </a:prstGeom>
          <a:solidFill>
            <a:srgbClr val="EA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65520" y="1152144"/>
            <a:ext cx="2621280" cy="2779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bIns="91440" lIns="128016" rIns="128016"/>
          <a:lstStyle/>
          <a:p>
            <a:pPr algn="ctr"/>
            <a:r>
              <a:rPr sz="850" b="1">
                <a:solidFill>
                  <a:srgbClr val="008272"/>
                </a:solidFill>
                <a:latin typeface="Microsoft YaHei"/>
              </a:rPr>
              <a:t>【企业数仓与报表消费】
</a:t>
            </a:r>
          </a:p>
          <a:p>
            <a:r>
              <a:rPr sz="1150" b="1">
                <a:solidFill>
                  <a:srgbClr val="0F172A"/>
                </a:solidFill>
                <a:latin typeface="Georgia"/>
              </a:rPr>
              <a:t>Azure Synapse Analytics
</a:t>
            </a:r>
            <a:r>
              <a:rPr sz="650">
                <a:solidFill>
                  <a:srgbClr val="64748B"/>
                </a:solidFill>
                <a:latin typeface="Consolas"/>
              </a:rPr>
              <a:t>ENTERPRISE SERVING &amp; EDW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专用 SQL 池 (Dedicated)：</a:t>
            </a:r>
            <a:r>
              <a:rPr sz="750">
                <a:solidFill>
                  <a:srgbClr val="334155"/>
                </a:solidFill>
                <a:latin typeface="Microsoft YaHei"/>
              </a:rPr>
              <a:t>MPP 分布式高并发架构，承载企业级数据仓库与星型模型。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无服务器 SQL (Serverless)：</a:t>
            </a:r>
            <a:r>
              <a:rPr sz="750">
                <a:solidFill>
                  <a:srgbClr val="334155"/>
                </a:solidFill>
                <a:latin typeface="Microsoft YaHei"/>
              </a:rPr>
              <a:t>针对湖内文件直接执行原生 T-SQL 探索，按查询数据量计费。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无缝 Power BI 体验：</a:t>
            </a:r>
            <a:r>
              <a:rPr sz="750">
                <a:solidFill>
                  <a:srgbClr val="334155"/>
                </a:solidFill>
                <a:latin typeface="Microsoft YaHei"/>
              </a:rPr>
              <a:t>深度集成 DirectLake 模式，物化视图与缓存保障秒级展现。</a:t>
            </a:r>
          </a:p>
          <a:p>
            <a:pPr>
              <a:spcBef>
                <a:spcPts val="600"/>
              </a:spcBef>
            </a:pPr>
            <a:r>
              <a:rPr sz="700" b="1">
                <a:solidFill>
                  <a:srgbClr val="10B981"/>
                </a:solidFill>
                <a:latin typeface="Microsoft YaHei"/>
              </a:rPr>
              <a:t>✓ 最佳适用: </a:t>
            </a:r>
            <a:r>
              <a:rPr sz="700">
                <a:solidFill>
                  <a:srgbClr val="334155"/>
                </a:solidFill>
                <a:latin typeface="Microsoft YaHei"/>
              </a:rPr>
              <a:t>高并发管理驾驶舱、复杂维度建模与企业财务级统一指标口径。
</a:t>
            </a:r>
            <a:r>
              <a:rPr sz="700" b="1">
                <a:solidFill>
                  <a:srgbClr val="EF4444"/>
                </a:solidFill>
                <a:latin typeface="Microsoft YaHei"/>
              </a:rPr>
              <a:t>✕ 边界限制: </a:t>
            </a:r>
            <a:r>
              <a:rPr sz="700">
                <a:solidFill>
                  <a:srgbClr val="334155"/>
                </a:solidFill>
                <a:latin typeface="Microsoft YaHei"/>
              </a:rPr>
              <a:t>非结构化数据处理与前沿深度学习模型的大规模分布式训练。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8672" y="1225296"/>
            <a:ext cx="2474976" cy="4572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4462272"/>
            <a:ext cx="8229600" cy="384048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37160" rIns="137160"/>
          <a:lstStyle/>
          <a:p>
            <a:pPr algn="ctr"/>
            <a:r>
              <a:rPr sz="850" b="1">
                <a:solidFill>
                  <a:srgbClr val="0078D4"/>
                </a:solidFill>
                <a:latin typeface="Microsoft YaHei"/>
              </a:rPr>
              <a:t>【架构协同原则】 </a:t>
            </a:r>
            <a:r>
              <a:rPr sz="800">
                <a:solidFill>
                  <a:srgbClr val="0F172A"/>
                </a:solidFill>
                <a:latin typeface="Microsoft YaHei"/>
              </a:rPr>
              <a:t>绝非三选一的替代关系：以 ADF 为全域数据管道纽带，以 Databricks 为中枢加工单一事实源 (SSOT)，以 Synapse 为窗口保障企业级报表毫秒级响应。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8229600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Georgia"/>
              </a:rPr>
              <a:t>AZURE DATA PLATFORM ARCHITECTURE | END-TO-END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8229600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450" b="1">
                <a:solidFill>
                  <a:srgbClr val="0F172A"/>
                </a:solidFill>
                <a:latin typeface="Georgia"/>
              </a:rPr>
              <a:t>技术架构全景图：基于 Medallion 奖章体系的 Azure 四层现代化数据架构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0">
                <a:solidFill>
                  <a:srgbClr val="0078D4"/>
                </a:solidFill>
                <a:latin typeface="Microsoft YaHei"/>
              </a:rPr>
              <a:t>四层解耦：多源接入、湖仓精炼、企业数仓建模与全场景消费深度协同，贯穿端到端安全与治理基线。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52144"/>
            <a:ext cx="1188720" cy="58521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54864" rIns="54864"/>
          <a:lstStyle/>
          <a:p>
            <a:pPr algn="ctr"/>
            <a:r>
              <a:rPr sz="850" b="1">
                <a:solidFill>
                  <a:srgbClr val="0A192F"/>
                </a:solidFill>
                <a:latin typeface="Georgia"/>
              </a:rPr>
              <a:t>01 消费与洞察层
</a:t>
            </a:r>
          </a:p>
          <a:p>
            <a:r>
              <a:rPr sz="650">
                <a:solidFill>
                  <a:srgbClr val="64748B"/>
                </a:solidFill>
                <a:latin typeface="Consolas"/>
              </a:rPr>
              <a:t>CONSUMPTION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152144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📊 Power BI 决策看板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直连 Synapse 与 Databricks SQL，秒级多维钻取分析与自助看板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152144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📑 企业级合规与财务报表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固定像素报表、多维穿透钻取、审计流水核对，支持定时自动分发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48656" y="1152144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🤖 AI 与大模型应用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基于 Azure OpenAI 私域语义问答与 MLflow 模型在线推理服务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4304" y="1152144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🔌 开放 API 与逆向数据流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API Management 统一封装标准数据微服务，反哺业务系统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737360"/>
            <a:ext cx="6949440" cy="109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50">
                <a:solidFill>
                  <a:srgbClr val="64748B"/>
                </a:solidFill>
                <a:latin typeface="Consolas"/>
              </a:rPr>
              <a:t>── ↕ DirectLake / DirectQuery 毫秒直读 · HTTPS 443 · REST APIs · OData ──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847088"/>
            <a:ext cx="1188720" cy="58521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008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54864" rIns="54864"/>
          <a:lstStyle/>
          <a:p>
            <a:pPr algn="ctr"/>
            <a:r>
              <a:rPr sz="850" b="1">
                <a:solidFill>
                  <a:srgbClr val="008272"/>
                </a:solidFill>
                <a:latin typeface="Georgia"/>
              </a:rPr>
              <a:t>02 数仓与服务层
</a:t>
            </a:r>
          </a:p>
          <a:p>
            <a:r>
              <a:rPr sz="650">
                <a:solidFill>
                  <a:srgbClr val="64748B"/>
                </a:solidFill>
                <a:latin typeface="Consolas"/>
              </a:rPr>
              <a:t>SERVING &amp; EDW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37360" y="1847088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🏛️ Synapse 专用 SQL 池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MPP 分布式企业数仓，承载星型模型 (Fact/Dim)，毫秒高并发支持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847088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⚡ Synapse Serverless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针对数据湖开放文件直接执行原生 T-SQL，零驻留成本即席探索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847088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🎯 Databricks SQL 仓库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Serverless SQL Warehouse，提供高性价比湖仓交互式查询与语义层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04304" y="1847088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📐 统一指标与度量中枢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统一维护全局商业指标口径与语义层，彻底消除跨部门数据歧义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432304"/>
            <a:ext cx="6949440" cy="109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50">
                <a:solidFill>
                  <a:srgbClr val="64748B"/>
                </a:solidFill>
                <a:latin typeface="Consolas"/>
              </a:rPr>
              <a:t>── ↕ Synapse Link · T-SQL 存储过程 · Delta Sharing 跨组织安全共享 ──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542032"/>
            <a:ext cx="1188720" cy="585216"/>
          </a:xfrm>
          <a:prstGeom prst="roundRect">
            <a:avLst/>
          </a:prstGeom>
          <a:solidFill>
            <a:srgbClr val="EBF5FF"/>
          </a:solidFill>
          <a:ln w="19050">
            <a:solidFill>
              <a:srgbClr val="EA3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54864" rIns="54864"/>
          <a:lstStyle/>
          <a:p>
            <a:pPr algn="ctr"/>
            <a:r>
              <a:rPr sz="850" b="1">
                <a:solidFill>
                  <a:srgbClr val="EA3824"/>
                </a:solidFill>
                <a:latin typeface="Georgia"/>
              </a:rPr>
              <a:t>03 湖仓计算层
</a:t>
            </a:r>
          </a:p>
          <a:p>
            <a:r>
              <a:rPr sz="650">
                <a:solidFill>
                  <a:srgbClr val="64748B"/>
                </a:solidFill>
                <a:latin typeface="Consolas"/>
              </a:rPr>
              <a:t>LAKEHOUSE ENGINE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2542032"/>
            <a:ext cx="1682496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🥉 Bronze 原始湖 (Raw)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保留源端 1:1 快照与增量日志，Auto Loader 毫秒入湖，版本回溯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2542032"/>
            <a:ext cx="1682496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🥈 Silver 洁净层 (Refined)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执行清洗去重、类型推断、Schema 演进验证与异常数据分流 (Delta)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48656" y="2542032"/>
            <a:ext cx="1682496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🥇 Gold 业务层 (Curated)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高度精炼的主题宽表、业务指标预计算与算法特征库，ACID 保障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04304" y="2542032"/>
            <a:ext cx="1682496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🛡️ Unity Catalog 统一治理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跨工作区统一数据目录，支持表/行/列级授权与端到端血缘追踪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127248"/>
            <a:ext cx="6949440" cy="109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50">
                <a:solidFill>
                  <a:srgbClr val="64748B"/>
                </a:solidFill>
                <a:latin typeface="Consolas"/>
              </a:rPr>
              <a:t>── ↕ ABFS (ADLS Gen2) · Delta Lake 开放格式 · Apache Spark 3.x · Auto Loader ──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36976"/>
            <a:ext cx="1188720" cy="58521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5C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54864" rIns="54864"/>
          <a:lstStyle/>
          <a:p>
            <a:pPr algn="ctr"/>
            <a:r>
              <a:rPr sz="850" b="1">
                <a:solidFill>
                  <a:srgbClr val="5C2D91"/>
                </a:solidFill>
                <a:latin typeface="Georgia"/>
              </a:rPr>
              <a:t>04 接入与基建层
</a:t>
            </a:r>
          </a:p>
          <a:p>
            <a:r>
              <a:rPr sz="650">
                <a:solidFill>
                  <a:srgbClr val="64748B"/>
                </a:solidFill>
                <a:latin typeface="Consolas"/>
              </a:rPr>
              <a:t>INGESTION &amp; INFRA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37360" y="3236976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⚡ Azure Data Factory (ADF)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全域统一调度编排流水线，支持 100+ 异构连接器与断点续传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93008" y="3236976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📡 Event Hubs 实时流接入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高吞吐接入 IoT 设备埋点、应用日志与 Kafka 实时数据流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48656" y="3236976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🗄️ ADLS Gen2 湖存储底座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高性价比分层存储 (Hot/Cool/Archive)，多协议兼容与静态加密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04304" y="3236976"/>
            <a:ext cx="1682496" cy="58521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27432" lIns="54864" rIns="54864"/>
          <a:lstStyle/>
          <a:p>
            <a:pPr algn="ctr"/>
            <a:r>
              <a:rPr sz="750" b="1">
                <a:solidFill>
                  <a:srgbClr val="0F172A"/>
                </a:solidFill>
                <a:latin typeface="Georgia"/>
              </a:rPr>
              <a:t>🏢 企业多源业务系统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SAP ERP、本地核心数据库、SaaS CRM 与各类无结构附件文件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858768"/>
            <a:ext cx="8229600" cy="219456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700" b="1">
                <a:solidFill>
                  <a:srgbClr val="0078D4"/>
                </a:solidFill>
                <a:latin typeface="Microsoft YaHei"/>
              </a:rPr>
              <a:t>🔐 全局安全与治理底座：Microsoft Purview 数据编织 · Azure Key Vault 统一密钥 · Entra ID 单点鉴权 · 全私有端点 (Private Link)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462272"/>
            <a:ext cx="8229600" cy="384048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37160" rIns="137160"/>
          <a:lstStyle/>
          <a:p>
            <a:pPr algn="ctr"/>
            <a:r>
              <a:rPr sz="850" b="1">
                <a:solidFill>
                  <a:srgbClr val="0078D4"/>
                </a:solidFill>
                <a:latin typeface="Microsoft YaHei"/>
              </a:rPr>
              <a:t>【核心设计原则】 </a:t>
            </a:r>
            <a:r>
              <a:rPr sz="800">
                <a:solidFill>
                  <a:srgbClr val="0F172A"/>
                </a:solidFill>
                <a:latin typeface="Microsoft YaHei"/>
              </a:rPr>
              <a:t>存算分离、计算弹性归零、单一事实源 (Single Copy of Truth)、全链路私网互联与企业级零信任访问。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8229600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Georgia"/>
              </a:rPr>
              <a:t>AZURE DATA PLATFORM STRATEGY | TECHNOLOGY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8229600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450" b="1">
                <a:solidFill>
                  <a:srgbClr val="0F172A"/>
                </a:solidFill>
                <a:latin typeface="Georgia"/>
              </a:rPr>
              <a:t>场景深度选型：在数据接入、复杂转换、湖仓治理与 BI 报表场景下的边界权衡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0">
                <a:solidFill>
                  <a:srgbClr val="0078D4"/>
                </a:solidFill>
                <a:latin typeface="Microsoft YaHei"/>
              </a:rPr>
              <a:t>结合实际企业生产痛点，对 ADF、Databricks 与 Synapse 在五大核心技术场景进行系统权衡与评级。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1680" y="1152144"/>
            <a:ext cx="2179320" cy="2560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800" b="1">
                <a:solidFill>
                  <a:srgbClr val="0F172A"/>
                </a:solidFill>
                <a:latin typeface="Microsoft YaHei"/>
              </a:rPr>
              <a:t>Azure Data Factory (全域调度编排中枢)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6720" y="1152144"/>
            <a:ext cx="2179320" cy="256032"/>
          </a:xfrm>
          <a:prstGeom prst="roundRect">
            <a:avLst/>
          </a:prstGeom>
          <a:solidFill>
            <a:srgbClr val="0078D4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★ 核心推荐: Azure Databricks (现代湖仓与计算核心)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1760" y="1152144"/>
            <a:ext cx="2179320" cy="2560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800" b="1">
                <a:solidFill>
                  <a:srgbClr val="0F172A"/>
                </a:solidFill>
                <a:latin typeface="Microsoft YaHei"/>
              </a:rPr>
              <a:t>Azure Synapse (企业数仓与报表服务)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44752"/>
            <a:ext cx="1508760" cy="437083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0078D4"/>
                </a:solidFill>
                <a:latin typeface="Georgia"/>
              </a:rPr>
              <a:t>01 异构多源集成与编排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连接器生态、定时轮询与事件依赖编排能力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444752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顶级编排中枢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内置 100+ 原生连接器，支持图形化与 SHIR 穿透内网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6720" y="1444752"/>
            <a:ext cx="2179320" cy="437083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轻量作业编排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Workflows 支持轻量调度，但外部异构连接需自写代码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61760" y="1444752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继承 ADF 能力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内置 Synapse Pipelines 具备与 ADF 一致的集成调度能力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918411"/>
            <a:ext cx="1508760" cy="437083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0078D4"/>
                </a:solidFill>
                <a:latin typeface="Georgia"/>
              </a:rPr>
              <a:t>02 大数据清洗与转换 (ETL)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TB/PB 级吞吐、复杂业务逻辑、半/非结构化处理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1918411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轻量搬运为主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Mapping Data Flow 成本高，更适合作为 ELT 搬运工具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36720" y="1918411"/>
            <a:ext cx="2179320" cy="437083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公认性能霸主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Photon 向量化执行提效 3-5x，PySpark 表达复杂业务逻辑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760" y="1918411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适合 T-SQL 转换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适合库内 SQL 存储过程，对非结构化与前沿算法支持受限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92070"/>
            <a:ext cx="1508760" cy="437083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0078D4"/>
                </a:solidFill>
                <a:latin typeface="Georgia"/>
              </a:rPr>
              <a:t>03 湖仓一体与流批统一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ACID 事务、时间旅行回溯、流批一体化支持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2392070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EF4444"/>
                </a:solidFill>
                <a:latin typeface="Microsoft YaHei"/>
              </a:rPr>
              <a:t>○  无存储处理能力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仅作为数据搬运管道，不参与底层文件格式优化与治理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36720" y="2392070"/>
            <a:ext cx="2179320" cy="437083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Delta 原创引领者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原生支持 Delta Lake / Iceberg，Auto Loader 毫秒入湖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61760" y="2392070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支持部分 Delta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Serverless SQL 支持读取 Delta，但深度优化依赖外部作业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865729"/>
            <a:ext cx="1508760" cy="437083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0078D4"/>
                </a:solidFill>
                <a:latin typeface="Georgia"/>
              </a:rPr>
              <a:t>04 高并发即席查询与 EDW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千人并发点选、星型维度建模、亚秒级报表聚合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2865729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EF4444"/>
                </a:solidFill>
                <a:latin typeface="Microsoft YaHei"/>
              </a:rPr>
              <a:t>○  不提供查询服务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不具备 SQL 查询引擎，仅输出文件至下游目标库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6720" y="2865729"/>
            <a:ext cx="2179320" cy="437083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并发能力持续提升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Databricks SQL 极佳，但超大规模高并发报表开销相对较高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61760" y="2865729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企业数仓绝对主力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专用 SQL 池 MPP 架构抗压强，物化视图与结果集缓存完善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339388"/>
            <a:ext cx="1508760" cy="437083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0078D4"/>
                </a:solidFill>
                <a:latin typeface="Georgia"/>
              </a:rPr>
              <a:t>05 AI / 机器学习与高级分析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算法模型训练、特征工程、端到端 MLOps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0" y="3339388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EF4444"/>
                </a:solidFill>
                <a:latin typeface="Microsoft YaHei"/>
              </a:rPr>
              <a:t>○  不支持算法建模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无算法运行环境，仅为算法训练搬运样本文件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36720" y="3339388"/>
            <a:ext cx="2179320" cy="437083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一站式数据智能底座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原生集成 MLflow 模型注册与部署，内置 GPU 分布式算力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61760" y="3339388"/>
            <a:ext cx="2179320" cy="437083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集成 Azure ML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具备轻量预测函数，但前沿深度学习生态成熟度不如 Databricks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849623"/>
            <a:ext cx="4937759" cy="411480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800" b="1">
                <a:solidFill>
                  <a:srgbClr val="0078D4"/>
                </a:solidFill>
                <a:latin typeface="Microsoft YaHei"/>
              </a:rPr>
              <a:t>★ 协同推荐结论：三位一体协同现代化架构
</a:t>
            </a:r>
            <a:r>
              <a:rPr sz="700">
                <a:solidFill>
                  <a:srgbClr val="0F172A"/>
                </a:solidFill>
                <a:latin typeface="Microsoft YaHei"/>
              </a:rPr>
              <a:t>ADF 负责全域调度与源端抽取，Databricks 负责湖仓 Medallion 流批处理与 AI，Synapse 承载企业数仓建模与报表。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4688" y="3849623"/>
            <a:ext cx="3182112" cy="4114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800" b="1">
                <a:solidFill>
                  <a:srgbClr val="0F172A"/>
                </a:solidFill>
                <a:latin typeface="Microsoft YaHei"/>
              </a:rPr>
              <a:t>⚖ 关键取舍 (Trade-off)
</a:t>
            </a:r>
            <a:r>
              <a:rPr sz="700">
                <a:solidFill>
                  <a:srgbClr val="334155"/>
                </a:solidFill>
                <a:latin typeface="Microsoft YaHei"/>
              </a:rPr>
              <a:t>三者结合需配置统一元数据治理 (Purview) 与网络私有端点，但换取了极佳的性能与长远可演进性。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8229600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Georgia"/>
              </a:rPr>
              <a:t>AZURE DATA PLATFORM IMPLEMENTATION | DATA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8229600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450" b="1">
                <a:solidFill>
                  <a:srgbClr val="0F172A"/>
                </a:solidFill>
                <a:latin typeface="Georgia"/>
              </a:rPr>
              <a:t>数据流转闭环：从源端抽取到商业洞察的端到端 4 阶段落地工作流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0">
                <a:solidFill>
                  <a:srgbClr val="0078D4"/>
                </a:solidFill>
                <a:latin typeface="Microsoft YaHei"/>
              </a:rPr>
              <a:t>清晰界定 ADF 调度触发、Databricks 增量精炼与 Synapse 视图建模的职责交接面与流转机制。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52144"/>
            <a:ext cx="195453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78D4"/>
                </a:solidFill>
                <a:latin typeface="Georgia"/>
              </a:rPr>
              <a:t>STAGE 01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多源统一抽取与落地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64748B"/>
                </a:solidFill>
                <a:latin typeface="Consolas"/>
              </a:rPr>
              <a:t>ADF · Event Hubs · Landing Zone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ADF 定时轮询源端增量数据 (Watermark)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落入 ADLS Gen2 Landing/Raw 分区目录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写入抽取审计流水，核对行数与校验和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8890" y="1152144"/>
            <a:ext cx="1954530" cy="1691640"/>
          </a:xfrm>
          <a:prstGeom prst="roundRect">
            <a:avLst/>
          </a:prstGeom>
          <a:solidFill>
            <a:srgbClr val="EBF5FF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78D4"/>
                </a:solidFill>
                <a:latin typeface="Georgia"/>
              </a:rPr>
              <a:t>STAGE 02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湖仓自动化精炼清洗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0078D4"/>
                </a:solidFill>
                <a:latin typeface="Consolas"/>
              </a:rPr>
              <a:t>Databricks · Auto Loader · Delta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Auto Loader 事件感应新文件即时入湖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写入 Bronze -&gt; Silver 执行清洗、去重与类型约束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Great Expectations 质检规则拦截异常脏数据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0580" y="1152144"/>
            <a:ext cx="195453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78D4"/>
                </a:solidFill>
                <a:latin typeface="Georgia"/>
              </a:rPr>
              <a:t>STAGE 03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业务聚合建模与特征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64748B"/>
                </a:solidFill>
                <a:latin typeface="Consolas"/>
              </a:rPr>
              <a:t>Databricks · Gold Delta · Features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跨系统关联组装客户、订单、产品等主题宽表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统一口径预计算核心 KPI 指标库与特征库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Unity Catalog 登记元数据并对外发布共享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32270" y="1152144"/>
            <a:ext cx="195453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78D4"/>
                </a:solidFill>
                <a:latin typeface="Georgia"/>
              </a:rPr>
              <a:t>STAGE 04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数仓加速与商业呈现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64748B"/>
                </a:solidFill>
                <a:latin typeface="Consolas"/>
              </a:rPr>
              <a:t>Synapse Dedicated · Power BI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PolyBase / Synapse Link 高速加载专用池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Power BI DirectLake 毫秒级直连直读湖仓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物化视图加速保障数千业务用户并发无卡顿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80944"/>
            <a:ext cx="2621280" cy="1188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800" b="1">
                <a:solidFill>
                  <a:srgbClr val="0078D4"/>
                </a:solidFill>
                <a:latin typeface="Georgia"/>
              </a:rPr>
              <a:t>⚡ 15 分钟
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0F172A"/>
                </a:solidFill>
                <a:latin typeface="Georgia"/>
              </a:rPr>
              <a:t>数据端到端入库就绪时延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从传统 T+1 日级批处理跨越至分钟级增量可用，全面支撑业务敏捷运营与实时分析。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1360" y="2980944"/>
            <a:ext cx="2621280" cy="1188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800" b="1">
                <a:solidFill>
                  <a:srgbClr val="0078D4"/>
                </a:solidFill>
                <a:latin typeface="Georgia"/>
              </a:rPr>
              <a:t>💰 -35%
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0F172A"/>
                </a:solidFill>
                <a:latin typeface="Georgia"/>
              </a:rPr>
              <a:t>云端计算与存储 TCO 降低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存算分离架构 + Serverless 弹性缩容归零，彻底杜绝常驻空转算力与冗余存储浪费。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5520" y="2980944"/>
            <a:ext cx="2621280" cy="1188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800" b="1">
                <a:solidFill>
                  <a:srgbClr val="0078D4"/>
                </a:solidFill>
                <a:latin typeface="Georgia"/>
              </a:rPr>
              <a:t>📉 -70%
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0F172A"/>
                </a:solidFill>
                <a:latin typeface="Georgia"/>
              </a:rPr>
              <a:t>手工运维排错工单压缩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端到端自动化管道 + 统一元数据治理 (Purview)，大幅减少数据对账与链路排查负担。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62272"/>
            <a:ext cx="8229600" cy="384048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37160" rIns="137160"/>
          <a:lstStyle/>
          <a:p>
            <a:pPr algn="ctr"/>
            <a:r>
              <a:rPr sz="850" b="1">
                <a:solidFill>
                  <a:srgbClr val="0078D4"/>
                </a:solidFill>
                <a:latin typeface="Microsoft YaHei"/>
              </a:rPr>
              <a:t>【流程收益结论】 </a:t>
            </a:r>
            <a:r>
              <a:rPr sz="800">
                <a:solidFill>
                  <a:srgbClr val="0F172A"/>
                </a:solidFill>
                <a:latin typeface="Microsoft YaHei"/>
              </a:rPr>
              <a:t>以流批一体闭环代替散落手工脚本，打通从源端感知到业务报表毫秒呈现的全流程，兼备敏捷度、高可靠性与合规性。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